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42"/>
  </p:notesMasterIdLst>
  <p:handoutMasterIdLst>
    <p:handoutMasterId r:id="rId43"/>
  </p:handoutMasterIdLst>
  <p:sldIdLst>
    <p:sldId id="256" r:id="rId5"/>
    <p:sldId id="289" r:id="rId6"/>
    <p:sldId id="295" r:id="rId7"/>
    <p:sldId id="304" r:id="rId8"/>
    <p:sldId id="305" r:id="rId9"/>
    <p:sldId id="306" r:id="rId10"/>
    <p:sldId id="307" r:id="rId11"/>
    <p:sldId id="302" r:id="rId12"/>
    <p:sldId id="308" r:id="rId13"/>
    <p:sldId id="303" r:id="rId14"/>
    <p:sldId id="309" r:id="rId15"/>
    <p:sldId id="310" r:id="rId16"/>
    <p:sldId id="291" r:id="rId17"/>
    <p:sldId id="311" r:id="rId18"/>
    <p:sldId id="312" r:id="rId19"/>
    <p:sldId id="296" r:id="rId20"/>
    <p:sldId id="293" r:id="rId21"/>
    <p:sldId id="314" r:id="rId22"/>
    <p:sldId id="315" r:id="rId23"/>
    <p:sldId id="316" r:id="rId24"/>
    <p:sldId id="294" r:id="rId25"/>
    <p:sldId id="313" r:id="rId26"/>
    <p:sldId id="299" r:id="rId27"/>
    <p:sldId id="317" r:id="rId28"/>
    <p:sldId id="300" r:id="rId29"/>
    <p:sldId id="318" r:id="rId30"/>
    <p:sldId id="301" r:id="rId31"/>
    <p:sldId id="319" r:id="rId32"/>
    <p:sldId id="290" r:id="rId33"/>
    <p:sldId id="320" r:id="rId34"/>
    <p:sldId id="297" r:id="rId35"/>
    <p:sldId id="321" r:id="rId36"/>
    <p:sldId id="292" r:id="rId37"/>
    <p:sldId id="322" r:id="rId38"/>
    <p:sldId id="298" r:id="rId39"/>
    <p:sldId id="323" r:id="rId40"/>
    <p:sldId id="288" r:id="rId41"/>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3F27FC-4EFE-C79E-EE34-D6CBB1D0F7BA}" v="484" dt="2026-05-03T19:16:41.742"/>
    <p1510:client id="{18AA3905-813A-4B04-A5CB-1A314BD77C03}" v="2456" dt="2026-05-03T23:04:09.49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880"/>
        <p:guide pos="216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handoutMaster" Target="handoutMasters/handoutMaster1.xml"/><Relationship Id="rId48"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03/05/2026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03/05/2026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3433115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2144-FCBE-6A8A-A0AE-4B9D57DA8E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7E8D5-CF3D-FB31-A479-FE9B4678B44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98ECD-779C-B147-FA65-387301E8BDD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4D029A2-BBAC-779C-5358-BB9C7A2A122B}"/>
              </a:ext>
            </a:extLst>
          </p:cNvPr>
          <p:cNvSpPr>
            <a:spLocks noGrp="1"/>
          </p:cNvSpPr>
          <p:nvPr>
            <p:ph type="sldNum" sz="quarter" idx="5"/>
          </p:nvPr>
        </p:nvSpPr>
        <p:spPr/>
        <p:txBody>
          <a:bodyPr/>
          <a:lstStyle/>
          <a:p>
            <a:fld id="{676223B9-C868-4436-87D9-1A3152E1157A}" type="slidenum">
              <a:rPr lang="es-ES" smtClean="0"/>
              <a:t>21</a:t>
            </a:fld>
            <a:endParaRPr lang="es-ES"/>
          </a:p>
        </p:txBody>
      </p:sp>
    </p:spTree>
    <p:extLst>
      <p:ext uri="{BB962C8B-B14F-4D97-AF65-F5344CB8AC3E}">
        <p14:creationId xmlns:p14="http://schemas.microsoft.com/office/powerpoint/2010/main" val="36645198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6B1C6-3682-4180-87C4-06A6C4E8012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AE3208-A690-FD1F-E94C-D310F334A7E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8F7B85C-6C72-3DDD-289B-E766AA64E93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B91AFB1E-8F28-1193-6909-CAB4A27B11F0}"/>
              </a:ext>
            </a:extLst>
          </p:cNvPr>
          <p:cNvSpPr>
            <a:spLocks noGrp="1"/>
          </p:cNvSpPr>
          <p:nvPr>
            <p:ph type="sldNum" sz="quarter" idx="5"/>
          </p:nvPr>
        </p:nvSpPr>
        <p:spPr/>
        <p:txBody>
          <a:bodyPr/>
          <a:lstStyle/>
          <a:p>
            <a:fld id="{676223B9-C868-4436-87D9-1A3152E1157A}" type="slidenum">
              <a:rPr lang="es-ES" smtClean="0"/>
              <a:t>23</a:t>
            </a:fld>
            <a:endParaRPr lang="es-ES"/>
          </a:p>
        </p:txBody>
      </p:sp>
    </p:spTree>
    <p:extLst>
      <p:ext uri="{BB962C8B-B14F-4D97-AF65-F5344CB8AC3E}">
        <p14:creationId xmlns:p14="http://schemas.microsoft.com/office/powerpoint/2010/main" val="2835170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0BA22-DBA9-14F1-E21B-ACB4C6B7F3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16E6B2-214F-F40F-258D-FF87081027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DB75D3B-42C9-35E9-99BA-0268BA71467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1A531B01-1E40-9F79-3CC8-FA6E8156BAFE}"/>
              </a:ext>
            </a:extLst>
          </p:cNvPr>
          <p:cNvSpPr>
            <a:spLocks noGrp="1"/>
          </p:cNvSpPr>
          <p:nvPr>
            <p:ph type="sldNum" sz="quarter" idx="5"/>
          </p:nvPr>
        </p:nvSpPr>
        <p:spPr/>
        <p:txBody>
          <a:bodyPr/>
          <a:lstStyle/>
          <a:p>
            <a:fld id="{676223B9-C868-4436-87D9-1A3152E1157A}" type="slidenum">
              <a:rPr lang="es-ES" smtClean="0"/>
              <a:t>25</a:t>
            </a:fld>
            <a:endParaRPr lang="es-ES"/>
          </a:p>
        </p:txBody>
      </p:sp>
    </p:spTree>
    <p:extLst>
      <p:ext uri="{BB962C8B-B14F-4D97-AF65-F5344CB8AC3E}">
        <p14:creationId xmlns:p14="http://schemas.microsoft.com/office/powerpoint/2010/main" val="7149530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18B0B-1527-F1CE-B7C6-3A4EEEE44F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26890C-BFDE-EB57-C86A-5199A0D962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EF1C62-7FB2-EC14-4109-CC2B3204CEB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388CFB6A-4B50-8F81-53B5-44C94D279BC8}"/>
              </a:ext>
            </a:extLst>
          </p:cNvPr>
          <p:cNvSpPr>
            <a:spLocks noGrp="1"/>
          </p:cNvSpPr>
          <p:nvPr>
            <p:ph type="sldNum" sz="quarter" idx="5"/>
          </p:nvPr>
        </p:nvSpPr>
        <p:spPr/>
        <p:txBody>
          <a:bodyPr/>
          <a:lstStyle/>
          <a:p>
            <a:fld id="{676223B9-C868-4436-87D9-1A3152E1157A}" type="slidenum">
              <a:rPr lang="es-ES" smtClean="0"/>
              <a:t>27</a:t>
            </a:fld>
            <a:endParaRPr lang="es-ES"/>
          </a:p>
        </p:txBody>
      </p:sp>
    </p:spTree>
    <p:extLst>
      <p:ext uri="{BB962C8B-B14F-4D97-AF65-F5344CB8AC3E}">
        <p14:creationId xmlns:p14="http://schemas.microsoft.com/office/powerpoint/2010/main" val="9155608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76223B9-C868-4436-87D9-1A3152E1157A}" type="slidenum">
              <a:rPr lang="es-ES" smtClean="0"/>
              <a:t>29</a:t>
            </a:fld>
            <a:endParaRPr lang="es-ES"/>
          </a:p>
        </p:txBody>
      </p:sp>
    </p:spTree>
    <p:extLst>
      <p:ext uri="{BB962C8B-B14F-4D97-AF65-F5344CB8AC3E}">
        <p14:creationId xmlns:p14="http://schemas.microsoft.com/office/powerpoint/2010/main" val="9422329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9112F-7FB7-4F49-F4F6-C1D0DC6ADB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90F532-536D-B583-3561-FD0C56234D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C233B1A-142E-BC7B-FE19-6D22CE4082B2}"/>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85087E6-8FC6-B2E3-2D74-B3C5168F5568}"/>
              </a:ext>
            </a:extLst>
          </p:cNvPr>
          <p:cNvSpPr>
            <a:spLocks noGrp="1"/>
          </p:cNvSpPr>
          <p:nvPr>
            <p:ph type="sldNum" sz="quarter" idx="5"/>
          </p:nvPr>
        </p:nvSpPr>
        <p:spPr/>
        <p:txBody>
          <a:bodyPr/>
          <a:lstStyle/>
          <a:p>
            <a:fld id="{676223B9-C868-4436-87D9-1A3152E1157A}" type="slidenum">
              <a:rPr lang="es-ES" smtClean="0"/>
              <a:t>31</a:t>
            </a:fld>
            <a:endParaRPr lang="es-ES"/>
          </a:p>
        </p:txBody>
      </p:sp>
    </p:spTree>
    <p:extLst>
      <p:ext uri="{BB962C8B-B14F-4D97-AF65-F5344CB8AC3E}">
        <p14:creationId xmlns:p14="http://schemas.microsoft.com/office/powerpoint/2010/main" val="15818590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33</a:t>
            </a:fld>
            <a:endParaRPr lang="es-ES"/>
          </a:p>
        </p:txBody>
      </p:sp>
    </p:spTree>
    <p:extLst>
      <p:ext uri="{BB962C8B-B14F-4D97-AF65-F5344CB8AC3E}">
        <p14:creationId xmlns:p14="http://schemas.microsoft.com/office/powerpoint/2010/main" val="29059530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3BE0A-4FED-FF2A-A29F-A3D3BA9386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78D4508-C900-33E0-69A9-12D9A5EC8B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3678FD2-F52A-F464-A6DC-9AE4044DCA6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6FF2B29-AFFB-903E-D5AD-4E4E99BA5701}"/>
              </a:ext>
            </a:extLst>
          </p:cNvPr>
          <p:cNvSpPr>
            <a:spLocks noGrp="1"/>
          </p:cNvSpPr>
          <p:nvPr>
            <p:ph type="sldNum" sz="quarter" idx="5"/>
          </p:nvPr>
        </p:nvSpPr>
        <p:spPr/>
        <p:txBody>
          <a:bodyPr/>
          <a:lstStyle/>
          <a:p>
            <a:fld id="{676223B9-C868-4436-87D9-1A3152E1157A}" type="slidenum">
              <a:rPr lang="es-ES" smtClean="0"/>
              <a:t>35</a:t>
            </a:fld>
            <a:endParaRPr lang="es-ES"/>
          </a:p>
        </p:txBody>
      </p:sp>
    </p:spTree>
    <p:extLst>
      <p:ext uri="{BB962C8B-B14F-4D97-AF65-F5344CB8AC3E}">
        <p14:creationId xmlns:p14="http://schemas.microsoft.com/office/powerpoint/2010/main" val="1083298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2.0. COUPLERS</a:t>
            </a:r>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3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3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3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err="1">
                <a:latin typeface="Lucida Sans"/>
                <a:cs typeface="Lucida Sans"/>
              </a:rPr>
              <a:t>Lab</a:t>
            </a:r>
            <a:r>
              <a:rPr lang="es-ES" sz="3200" b="1">
                <a:latin typeface="Lucida Sans"/>
                <a:cs typeface="Lucida Sans"/>
              </a:rPr>
              <a:t> Book 2.0. </a:t>
            </a:r>
            <a:r>
              <a:rPr lang="es-ES" sz="3200" b="1" err="1">
                <a:latin typeface="Lucida Sans"/>
                <a:cs typeface="Lucida Sans"/>
              </a:rPr>
              <a:t>Couplers</a:t>
            </a:r>
            <a:endParaRPr sz="320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err="1">
                <a:latin typeface="Arial"/>
                <a:cs typeface="Arial"/>
              </a:rPr>
              <a:t>Student</a:t>
            </a:r>
            <a:r>
              <a:rPr lang="es-ES" spc="165">
                <a:latin typeface="Arial"/>
                <a:cs typeface="Arial"/>
              </a:rPr>
              <a:t>: </a:t>
            </a:r>
            <a:endParaRPr sz="180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err="1">
                <a:latin typeface="+mj-lt"/>
                <a:cs typeface="Lucida Sans"/>
              </a:rPr>
              <a:t>Instructions</a:t>
            </a:r>
            <a:br>
              <a:rPr lang="es-ES" sz="2400" spc="-5">
                <a:latin typeface="+mj-lt"/>
                <a:cs typeface="Lucida Sans"/>
              </a:rPr>
            </a:br>
            <a:r>
              <a:rPr lang="es-ES" b="0" spc="-5">
                <a:latin typeface="+mj-lt"/>
                <a:cs typeface="Lucida Sans"/>
              </a:rPr>
              <a:t>General</a:t>
            </a:r>
            <a:endParaRPr sz="2400" b="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2.0. COUPLERS</a:t>
            </a:r>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a:solidFill>
                  <a:sysClr val="windowText" lastClr="000000"/>
                </a:solidFill>
                <a:sym typeface="Wingdings" pitchFamily="2" charset="2"/>
              </a:rPr>
              <a:t>Fork the repo: https://github.com/cccanvas-upv/cifoin-lab2.git</a:t>
            </a:r>
          </a:p>
          <a:p>
            <a:pPr marL="800100" lvl="1" indent="-342900" algn="just">
              <a:buFont typeface="Arial" panose="020B0604020202020204" pitchFamily="34" charset="0"/>
              <a:buChar char="•"/>
            </a:pPr>
            <a:r>
              <a:rPr lang="en-US" kern="0">
                <a:solidFill>
                  <a:sysClr val="windowText" lastClr="000000"/>
                </a:solidFill>
                <a:sym typeface="Wingdings" pitchFamily="2" charset="2"/>
              </a:rPr>
              <a:t>Clone the repo using </a:t>
            </a:r>
            <a:r>
              <a:rPr lang="en-US" kern="0" err="1">
                <a:solidFill>
                  <a:sysClr val="windowText" lastClr="000000"/>
                </a:solidFill>
                <a:sym typeface="Wingdings" pitchFamily="2" charset="2"/>
              </a:rPr>
              <a:t>VSCode</a:t>
            </a:r>
            <a:endParaRPr lang="en-US" kern="0">
              <a:solidFill>
                <a:sysClr val="windowText" lastClr="000000"/>
              </a:solidFill>
              <a:sym typeface="Wingdings" pitchFamily="2" charset="2"/>
            </a:endParaRPr>
          </a:p>
          <a:p>
            <a:pPr marL="342900" indent="-342900" algn="just">
              <a:buFont typeface="Arial" panose="020B0604020202020204" pitchFamily="34" charset="0"/>
              <a:buChar char="•"/>
            </a:pPr>
            <a:r>
              <a:rPr lang="en-US" kern="0">
                <a:solidFill>
                  <a:sysClr val="windowText" lastClr="000000"/>
                </a:solidFill>
              </a:rPr>
              <a:t>Run the </a:t>
            </a:r>
            <a:r>
              <a:rPr lang="en-US" kern="0" err="1">
                <a:solidFill>
                  <a:sysClr val="windowText" lastClr="000000"/>
                </a:solidFill>
              </a:rPr>
              <a:t>Jupyter</a:t>
            </a:r>
            <a:r>
              <a:rPr lang="en-US" kern="0">
                <a:solidFill>
                  <a:sysClr val="windowText" lastClr="000000"/>
                </a:solidFill>
              </a:rPr>
              <a:t> Notebook: </a:t>
            </a:r>
          </a:p>
          <a:p>
            <a:pPr marL="800100" lvl="1" indent="-342900" algn="just">
              <a:buFont typeface="Arial" panose="020B0604020202020204" pitchFamily="34" charset="0"/>
              <a:buChar char="•"/>
            </a:pPr>
            <a:r>
              <a:rPr lang="en-US" kern="0" err="1">
                <a:solidFill>
                  <a:sysClr val="windowText" lastClr="000000"/>
                </a:solidFill>
              </a:rPr>
              <a:t>COUPLERS_Student.ipynb</a:t>
            </a:r>
            <a:r>
              <a:rPr lang="en-US" kern="0">
                <a:solidFill>
                  <a:sysClr val="windowText" lastClr="000000"/>
                </a:solidFill>
              </a:rPr>
              <a:t> </a:t>
            </a:r>
          </a:p>
          <a:p>
            <a:pPr algn="just"/>
            <a:endParaRPr lang="en-US" b="1" i="1"/>
          </a:p>
          <a:p>
            <a:pPr algn="just"/>
            <a:r>
              <a:rPr lang="en-US" b="1" i="1"/>
              <a:t>Cross-Sections </a:t>
            </a:r>
            <a:r>
              <a:rPr lang="en-US" i="1"/>
              <a:t>to be studied:</a:t>
            </a:r>
            <a:endParaRPr lang="en-US" b="1" i="1"/>
          </a:p>
          <a:p>
            <a:pPr algn="just"/>
            <a:endParaRPr lang="en-US" sz="2000" b="1" i="1"/>
          </a:p>
          <a:p>
            <a:pPr algn="just"/>
            <a:endParaRPr lang="en-US" sz="2000" kern="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1241591"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97" name="object 62">
            <a:extLst>
              <a:ext uri="{FF2B5EF4-FFF2-40B4-BE49-F238E27FC236}">
                <a16:creationId xmlns:a16="http://schemas.microsoft.com/office/drawing/2014/main" id="{13E0425E-CEDF-CBC4-B34B-0CC3951920EA}"/>
              </a:ext>
            </a:extLst>
          </p:cNvPr>
          <p:cNvSpPr/>
          <p:nvPr/>
        </p:nvSpPr>
        <p:spPr>
          <a:xfrm>
            <a:off x="1795778"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229760"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a:latin typeface="Calibri"/>
                <a:cs typeface="Calibri"/>
              </a:rPr>
              <a:t>h</a:t>
            </a:r>
          </a:p>
          <a:p>
            <a:pPr marR="5080" algn="ctr">
              <a:lnSpc>
                <a:spcPct val="100000"/>
              </a:lnSpc>
              <a:spcBef>
                <a:spcPts val="5"/>
              </a:spcBef>
            </a:pPr>
            <a:r>
              <a:rPr sz="1400" spc="-10">
                <a:latin typeface="Calibri"/>
                <a:cs typeface="Calibri"/>
              </a:rPr>
              <a:t>(h</a:t>
            </a:r>
            <a:r>
              <a:rPr sz="1400">
                <a:latin typeface="Calibri"/>
                <a:cs typeface="Calibri"/>
              </a:rPr>
              <a:t>eig</a:t>
            </a:r>
            <a:r>
              <a:rPr sz="1400" spc="-25">
                <a:latin typeface="Calibri"/>
                <a:cs typeface="Calibri"/>
              </a:rPr>
              <a:t>h</a:t>
            </a:r>
            <a:r>
              <a:rPr sz="1400" spc="-5">
                <a:latin typeface="Calibri"/>
                <a:cs typeface="Calibri"/>
              </a:rPr>
              <a:t>t</a:t>
            </a:r>
            <a:r>
              <a:rPr sz="140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48179" y="4155787"/>
            <a:ext cx="914400" cy="89266"/>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073955" y="3856694"/>
            <a:ext cx="733425" cy="228909"/>
          </a:xfrm>
          <a:prstGeom prst="rect">
            <a:avLst/>
          </a:prstGeom>
        </p:spPr>
        <p:txBody>
          <a:bodyPr vert="horz" wrap="square" lIns="0" tIns="13335" rIns="0" bIns="0" rtlCol="0">
            <a:spAutoFit/>
          </a:bodyPr>
          <a:lstStyle/>
          <a:p>
            <a:pPr>
              <a:lnSpc>
                <a:spcPct val="100000"/>
              </a:lnSpc>
              <a:spcBef>
                <a:spcPts val="105"/>
              </a:spcBef>
            </a:pPr>
            <a:r>
              <a:rPr lang="es-ES" sz="1400" spc="5">
                <a:latin typeface="Calibri"/>
                <a:cs typeface="Calibri"/>
              </a:rPr>
              <a:t>w</a:t>
            </a:r>
            <a:r>
              <a:rPr sz="1400" spc="-65">
                <a:latin typeface="Calibri"/>
                <a:cs typeface="Calibri"/>
              </a:rPr>
              <a:t> </a:t>
            </a:r>
            <a:r>
              <a:rPr sz="1400" spc="-5">
                <a:latin typeface="Calibri"/>
                <a:cs typeface="Calibri"/>
              </a:rPr>
              <a:t>(width)</a:t>
            </a:r>
            <a:endParaRPr sz="140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352355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sz="1600" b="1" spc="-10">
                <a:latin typeface="Calibri"/>
                <a:cs typeface="Calibri"/>
              </a:rPr>
              <a:t>Core</a:t>
            </a:r>
            <a:endParaRPr sz="160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4421819" y="5309818"/>
            <a:ext cx="741045" cy="269240"/>
          </a:xfrm>
          <a:prstGeom prst="rect">
            <a:avLst/>
          </a:prstGeom>
        </p:spPr>
        <p:txBody>
          <a:bodyPr vert="horz" wrap="square" lIns="0" tIns="12065" rIns="0" bIns="0" rtlCol="0">
            <a:spAutoFit/>
          </a:bodyPr>
          <a:lstStyle/>
          <a:p>
            <a:pPr>
              <a:lnSpc>
                <a:spcPct val="100000"/>
              </a:lnSpc>
              <a:spcBef>
                <a:spcPts val="95"/>
              </a:spcBef>
            </a:pPr>
            <a:r>
              <a:rPr sz="1600" b="1" spc="-10">
                <a:latin typeface="Calibri"/>
                <a:cs typeface="Calibri"/>
              </a:rPr>
              <a:t>Cladding</a:t>
            </a:r>
            <a:endParaRPr sz="160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239000"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114" name="object 64">
            <a:extLst>
              <a:ext uri="{FF2B5EF4-FFF2-40B4-BE49-F238E27FC236}">
                <a16:creationId xmlns:a16="http://schemas.microsoft.com/office/drawing/2014/main" id="{D9E5D738-CA47-1898-E0D8-DFBC514F5A50}"/>
              </a:ext>
            </a:extLst>
          </p:cNvPr>
          <p:cNvSpPr/>
          <p:nvPr/>
        </p:nvSpPr>
        <p:spPr>
          <a:xfrm>
            <a:off x="7663179" y="4163346"/>
            <a:ext cx="3165333" cy="48374"/>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10954" y="3926878"/>
            <a:ext cx="733425" cy="228909"/>
          </a:xfrm>
          <a:prstGeom prst="rect">
            <a:avLst/>
          </a:prstGeom>
        </p:spPr>
        <p:txBody>
          <a:bodyPr vert="horz" wrap="square" lIns="0" tIns="13335" rIns="0" bIns="0" rtlCol="0">
            <a:spAutoFit/>
          </a:bodyPr>
          <a:lstStyle/>
          <a:p>
            <a:pPr>
              <a:lnSpc>
                <a:spcPct val="100000"/>
              </a:lnSpc>
              <a:spcBef>
                <a:spcPts val="105"/>
              </a:spcBef>
            </a:pPr>
            <a:r>
              <a:rPr lang="es-ES" sz="1400" spc="5">
                <a:latin typeface="Calibri"/>
                <a:cs typeface="Calibri"/>
              </a:rPr>
              <a:t>w</a:t>
            </a:r>
            <a:r>
              <a:rPr sz="1400" spc="-65">
                <a:latin typeface="Calibri"/>
                <a:cs typeface="Calibri"/>
              </a:rPr>
              <a:t> </a:t>
            </a:r>
            <a:r>
              <a:rPr sz="1400" spc="-5">
                <a:latin typeface="Calibri"/>
                <a:cs typeface="Calibri"/>
              </a:rPr>
              <a:t>(width)</a:t>
            </a:r>
            <a:endParaRPr sz="140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7663179" y="4325314"/>
            <a:ext cx="3165333"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lang="es-ES" sz="1600" b="1" spc="-10">
                <a:latin typeface="Calibri"/>
                <a:cs typeface="Calibri"/>
              </a:rPr>
              <a:t>MMI </a:t>
            </a:r>
            <a:r>
              <a:rPr lang="es-ES" sz="1600" b="1" spc="-10" err="1">
                <a:latin typeface="Calibri"/>
                <a:cs typeface="Calibri"/>
              </a:rPr>
              <a:t>Body</a:t>
            </a:r>
            <a:endParaRPr sz="160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7284458" y="5303772"/>
            <a:ext cx="741045" cy="269240"/>
          </a:xfrm>
          <a:prstGeom prst="rect">
            <a:avLst/>
          </a:prstGeom>
        </p:spPr>
        <p:txBody>
          <a:bodyPr vert="horz" wrap="square" lIns="0" tIns="12065" rIns="0" bIns="0" rtlCol="0">
            <a:spAutoFit/>
          </a:bodyPr>
          <a:lstStyle/>
          <a:p>
            <a:pPr>
              <a:lnSpc>
                <a:spcPct val="100000"/>
              </a:lnSpc>
              <a:spcBef>
                <a:spcPts val="95"/>
              </a:spcBef>
            </a:pPr>
            <a:r>
              <a:rPr sz="1600" b="1" spc="-10">
                <a:latin typeface="Calibri"/>
                <a:cs typeface="Calibri"/>
              </a:rPr>
              <a:t>Cladding</a:t>
            </a:r>
            <a:endParaRPr sz="160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7377675" y="5580458"/>
            <a:ext cx="3954288" cy="369332"/>
          </a:xfrm>
          <a:prstGeom prst="rect">
            <a:avLst/>
          </a:prstGeom>
          <a:noFill/>
        </p:spPr>
        <p:txBody>
          <a:bodyPr wrap="none" rtlCol="0">
            <a:spAutoFit/>
          </a:bodyPr>
          <a:lstStyle/>
          <a:p>
            <a:pPr algn="r"/>
            <a:r>
              <a:rPr lang="en-US" b="1"/>
              <a:t>Multimode Interference (MMI) </a:t>
            </a:r>
            <a:r>
              <a:rPr lang="en-US"/>
              <a:t>coupler</a:t>
            </a:r>
            <a:r>
              <a:rPr lang="en-US" b="1"/>
              <a:t> </a:t>
            </a:r>
            <a:endParaRPr lang="en-US"/>
          </a:p>
        </p:txBody>
      </p:sp>
      <p:sp>
        <p:nvSpPr>
          <p:cNvPr id="8" name="CuadroTexto 7">
            <a:extLst>
              <a:ext uri="{FF2B5EF4-FFF2-40B4-BE49-F238E27FC236}">
                <a16:creationId xmlns:a16="http://schemas.microsoft.com/office/drawing/2014/main" id="{7336B5D8-2D70-3E7A-336D-AF55EC49DEB8}"/>
              </a:ext>
            </a:extLst>
          </p:cNvPr>
          <p:cNvSpPr txBox="1"/>
          <p:nvPr/>
        </p:nvSpPr>
        <p:spPr>
          <a:xfrm>
            <a:off x="1168826" y="5579058"/>
            <a:ext cx="2743199" cy="369332"/>
          </a:xfrm>
          <a:prstGeom prst="rect">
            <a:avLst/>
          </a:prstGeom>
          <a:noFill/>
        </p:spPr>
        <p:txBody>
          <a:bodyPr wrap="square">
            <a:spAutoFit/>
          </a:bodyPr>
          <a:lstStyle/>
          <a:p>
            <a:r>
              <a:rPr lang="en-US" b="1"/>
              <a:t>Directional </a:t>
            </a:r>
            <a:r>
              <a:rPr lang="en-US"/>
              <a:t>coupler (DC)</a:t>
            </a:r>
          </a:p>
        </p:txBody>
      </p:sp>
      <p:sp>
        <p:nvSpPr>
          <p:cNvPr id="7" name="object 73">
            <a:extLst>
              <a:ext uri="{FF2B5EF4-FFF2-40B4-BE49-F238E27FC236}">
                <a16:creationId xmlns:a16="http://schemas.microsoft.com/office/drawing/2014/main" id="{9404A65A-9F07-371B-17B4-56EE1381567B}"/>
              </a:ext>
            </a:extLst>
          </p:cNvPr>
          <p:cNvSpPr txBox="1"/>
          <p:nvPr/>
        </p:nvSpPr>
        <p:spPr>
          <a:xfrm>
            <a:off x="194817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sz="1600" b="1" spc="-10">
                <a:latin typeface="Calibri"/>
                <a:cs typeface="Calibri"/>
              </a:rPr>
              <a:t>Core</a:t>
            </a:r>
            <a:endParaRPr sz="1600">
              <a:latin typeface="Calibri"/>
              <a:cs typeface="Calibri"/>
            </a:endParaRPr>
          </a:p>
        </p:txBody>
      </p:sp>
      <p:sp>
        <p:nvSpPr>
          <p:cNvPr id="9" name="object 64">
            <a:extLst>
              <a:ext uri="{FF2B5EF4-FFF2-40B4-BE49-F238E27FC236}">
                <a16:creationId xmlns:a16="http://schemas.microsoft.com/office/drawing/2014/main" id="{B06C28EB-4BF4-A40B-513B-ACC7E468CDC3}"/>
              </a:ext>
            </a:extLst>
          </p:cNvPr>
          <p:cNvSpPr/>
          <p:nvPr/>
        </p:nvSpPr>
        <p:spPr>
          <a:xfrm flipV="1">
            <a:off x="2911079" y="5067632"/>
            <a:ext cx="590401" cy="45719"/>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 name="object 63">
            <a:extLst>
              <a:ext uri="{FF2B5EF4-FFF2-40B4-BE49-F238E27FC236}">
                <a16:creationId xmlns:a16="http://schemas.microsoft.com/office/drawing/2014/main" id="{4601CBDA-CF6C-DA98-1398-C31497498862}"/>
              </a:ext>
            </a:extLst>
          </p:cNvPr>
          <p:cNvSpPr txBox="1"/>
          <p:nvPr/>
        </p:nvSpPr>
        <p:spPr>
          <a:xfrm>
            <a:off x="2939643" y="5090491"/>
            <a:ext cx="577850" cy="454025"/>
          </a:xfrm>
          <a:prstGeom prst="rect">
            <a:avLst/>
          </a:prstGeom>
        </p:spPr>
        <p:txBody>
          <a:bodyPr vert="horz" wrap="square" lIns="0" tIns="13335" rIns="0" bIns="0" rtlCol="0">
            <a:spAutoFit/>
          </a:bodyPr>
          <a:lstStyle/>
          <a:p>
            <a:pPr marR="3175" algn="ctr">
              <a:lnSpc>
                <a:spcPct val="100000"/>
              </a:lnSpc>
              <a:spcBef>
                <a:spcPts val="105"/>
              </a:spcBef>
            </a:pPr>
            <a:r>
              <a:rPr lang="es-ES" sz="1400">
                <a:latin typeface="Calibri"/>
                <a:cs typeface="Calibri"/>
              </a:rPr>
              <a:t>g</a:t>
            </a:r>
            <a:endParaRPr sz="1400">
              <a:latin typeface="Calibri"/>
              <a:cs typeface="Calibri"/>
            </a:endParaRPr>
          </a:p>
          <a:p>
            <a:pPr marR="5080" algn="ctr">
              <a:lnSpc>
                <a:spcPct val="100000"/>
              </a:lnSpc>
              <a:spcBef>
                <a:spcPts val="5"/>
              </a:spcBef>
            </a:pPr>
            <a:r>
              <a:rPr sz="1400" spc="-10">
                <a:latin typeface="Calibri"/>
                <a:cs typeface="Calibri"/>
              </a:rPr>
              <a:t>(</a:t>
            </a:r>
            <a:r>
              <a:rPr lang="es-ES" sz="1400" spc="-10">
                <a:latin typeface="Calibri"/>
                <a:cs typeface="Calibri"/>
              </a:rPr>
              <a:t>gap</a:t>
            </a:r>
            <a:r>
              <a:rPr sz="1400">
                <a:latin typeface="Calibri"/>
                <a:cs typeface="Calibri"/>
              </a:rPr>
              <a:t>)</a:t>
            </a:r>
          </a:p>
        </p:txBody>
      </p:sp>
      <p:sp>
        <p:nvSpPr>
          <p:cNvPr id="11" name="object 62">
            <a:extLst>
              <a:ext uri="{FF2B5EF4-FFF2-40B4-BE49-F238E27FC236}">
                <a16:creationId xmlns:a16="http://schemas.microsoft.com/office/drawing/2014/main" id="{F1DAA8E2-74AD-BD39-C248-2324458F6D54}"/>
              </a:ext>
            </a:extLst>
          </p:cNvPr>
          <p:cNvSpPr/>
          <p:nvPr/>
        </p:nvSpPr>
        <p:spPr>
          <a:xfrm>
            <a:off x="7448782"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 name="object 63">
            <a:extLst>
              <a:ext uri="{FF2B5EF4-FFF2-40B4-BE49-F238E27FC236}">
                <a16:creationId xmlns:a16="http://schemas.microsoft.com/office/drawing/2014/main" id="{FCE9BE8C-E2F4-7CBE-236B-A2E5451F5C01}"/>
              </a:ext>
            </a:extLst>
          </p:cNvPr>
          <p:cNvSpPr txBox="1"/>
          <p:nvPr/>
        </p:nvSpPr>
        <p:spPr>
          <a:xfrm>
            <a:off x="6882764"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a:latin typeface="Calibri"/>
                <a:cs typeface="Calibri"/>
              </a:rPr>
              <a:t>h</a:t>
            </a:r>
          </a:p>
          <a:p>
            <a:pPr marR="5080" algn="ctr">
              <a:lnSpc>
                <a:spcPct val="100000"/>
              </a:lnSpc>
              <a:spcBef>
                <a:spcPts val="5"/>
              </a:spcBef>
            </a:pPr>
            <a:r>
              <a:rPr sz="1400" spc="-10">
                <a:latin typeface="Calibri"/>
                <a:cs typeface="Calibri"/>
              </a:rPr>
              <a:t>(h</a:t>
            </a:r>
            <a:r>
              <a:rPr sz="1400">
                <a:latin typeface="Calibri"/>
                <a:cs typeface="Calibri"/>
              </a:rPr>
              <a:t>eig</a:t>
            </a:r>
            <a:r>
              <a:rPr sz="1400" spc="-25">
                <a:latin typeface="Calibri"/>
                <a:cs typeface="Calibri"/>
              </a:rPr>
              <a:t>h</a:t>
            </a:r>
            <a:r>
              <a:rPr sz="1400" spc="-5">
                <a:latin typeface="Calibri"/>
                <a:cs typeface="Calibri"/>
              </a:rPr>
              <a:t>t</a:t>
            </a:r>
            <a:r>
              <a:rPr sz="1400">
                <a:latin typeface="Calibri"/>
                <a:cs typeface="Calibri"/>
              </a:rPr>
              <a:t>)</a:t>
            </a: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1F74687F-7302-3F32-F9D1-0566D05F33AE}"/>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78335A49-ACE2-C055-50CA-8DD755D2E76D}"/>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6" name="Título 4">
            <a:extLst>
              <a:ext uri="{FF2B5EF4-FFF2-40B4-BE49-F238E27FC236}">
                <a16:creationId xmlns:a16="http://schemas.microsoft.com/office/drawing/2014/main" id="{AF6692CA-D0D0-2BAF-E673-933E02AE2BB8}"/>
              </a:ext>
            </a:extLst>
          </p:cNvPr>
          <p:cNvSpPr>
            <a:spLocks noGrp="1"/>
          </p:cNvSpPr>
          <p:nvPr>
            <p:ph type="body" idx="1"/>
          </p:nvPr>
        </p:nvSpPr>
        <p:spPr>
          <a:xfrm>
            <a:off x="609600" y="2152650"/>
            <a:ext cx="10972800" cy="430887"/>
          </a:xfrm>
        </p:spPr>
        <p:txBody>
          <a:bodyPr/>
          <a:lstStyle/>
          <a:p>
            <a:pPr algn="ctr"/>
            <a:r>
              <a:rPr lang="en-US" sz="2800" b="1">
                <a:effectLst>
                  <a:outerShdw blurRad="38100" dist="38100" dir="2700000" algn="tl">
                    <a:srgbClr val="000000">
                      <a:alpha val="43137"/>
                    </a:srgbClr>
                  </a:outerShdw>
                </a:effectLst>
              </a:rPr>
              <a:t>Directional coupler</a:t>
            </a:r>
          </a:p>
        </p:txBody>
      </p:sp>
    </p:spTree>
    <p:extLst>
      <p:ext uri="{BB962C8B-B14F-4D97-AF65-F5344CB8AC3E}">
        <p14:creationId xmlns:p14="http://schemas.microsoft.com/office/powerpoint/2010/main" val="1640019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#1 – Directional coupler cross-section in </a:t>
            </a:r>
            <a:r>
              <a:rPr lang="en-US" sz="2500" err="1"/>
              <a:t>GDSFactory</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p>
        </p:txBody>
      </p:sp>
      <mc:AlternateContent xmlns:mc="http://schemas.openxmlformats.org/markup-compatibility/2006">
        <mc:Choice xmlns:a14="http://schemas.microsoft.com/office/drawing/2010/main" Requires="a14">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a:t>INSTRUCTOR:</a:t>
                </a:r>
              </a:p>
              <a:p>
                <a:pPr marL="342900" indent="-342900" algn="just">
                  <a:buFont typeface="Arial" panose="020B0604020202020204" pitchFamily="34" charset="0"/>
                  <a:buChar char="•"/>
                </a:pPr>
                <a:r>
                  <a:rPr lang="en-US" sz="2000"/>
                  <a:t>Present Python and </a:t>
                </a:r>
                <a:r>
                  <a:rPr lang="en-US" sz="2000" err="1"/>
                  <a:t>GDSFactory</a:t>
                </a:r>
                <a:r>
                  <a:rPr lang="en-US" sz="2000"/>
                  <a:t> implementation of DC cross-section</a:t>
                </a:r>
              </a:p>
              <a:p>
                <a:pPr marL="342900" indent="-342900" algn="just">
                  <a:buFont typeface="Arial" panose="020B0604020202020204" pitchFamily="34" charset="0"/>
                  <a:buChar char="•"/>
                </a:pPr>
                <a:r>
                  <a:rPr lang="en-US" sz="2000"/>
                  <a:t>Describe how to obtain the beating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a:p>
              <a:p>
                <a:pPr marL="342900" indent="-342900" algn="just">
                  <a:buFont typeface="Arial" panose="020B0604020202020204" pitchFamily="34" charset="0"/>
                  <a:buChar char="•"/>
                </a:pPr>
                <a:r>
                  <a:rPr lang="en-US" sz="2000"/>
                  <a:t>Describe the outputs.</a:t>
                </a:r>
              </a:p>
              <a:p>
                <a:pPr marL="0" indent="0" algn="just">
                  <a:buNone/>
                </a:pPr>
                <a:r>
                  <a:rPr lang="en-US" sz="2000" b="1"/>
                  <a:t>ALL EXAMPLE #1: </a:t>
                </a:r>
                <a:r>
                  <a:rPr lang="en-US" sz="2000"/>
                  <a:t>waveguide width 1.2 µm, gap between waveguides 0.6 µm, deep </a:t>
                </a:r>
                <a:r>
                  <a:rPr lang="en-US" sz="2000" err="1"/>
                  <a:t>wvg</a:t>
                </a:r>
                <a:r>
                  <a:rPr lang="en-US" sz="2000"/>
                  <a:t>, wavelength start and end same 1.55 µm </a:t>
                </a:r>
                <a:r>
                  <a:rPr lang="en-US" sz="2000">
                    <a:sym typeface="Wingdings" pitchFamily="2" charset="2"/>
                  </a:rPr>
                  <a:t> all ”Run”</a:t>
                </a:r>
                <a:endParaRPr lang="en-US" sz="2000"/>
              </a:p>
              <a:p>
                <a:pPr marL="0" indent="0" algn="just">
                  <a:buNone/>
                </a:pPr>
                <a:r>
                  <a:rPr lang="en-US" sz="2000" b="1"/>
                  <a:t>ALL: </a:t>
                </a:r>
                <a:r>
                  <a:rPr lang="en-US" sz="2000"/>
                  <a:t>Follow</a:t>
                </a:r>
                <a:r>
                  <a:rPr lang="en-US" sz="2000" b="1"/>
                  <a:t> </a:t>
                </a:r>
                <a:r>
                  <a:rPr lang="en-US" sz="2000"/>
                  <a:t>instructor, that will show how to 1) plot mode, 2) explore the results (neff …)</a:t>
                </a:r>
              </a:p>
              <a:p>
                <a:pPr algn="just"/>
                <a:endParaRPr lang="en-US" sz="2000" b="1" i="1"/>
              </a:p>
              <a:p>
                <a:pPr algn="just"/>
                <a:endParaRPr lang="en-US" sz="2000" kern="0">
                  <a:solidFill>
                    <a:sysClr val="windowText" lastClr="000000"/>
                  </a:solidFill>
                </a:endParaRPr>
              </a:p>
            </p:txBody>
          </p:sp>
        </mc:Choice>
        <mc:Fallback>
          <p:sp>
            <p:nvSpPr>
              <p:cNvPr id="4" name="Marcador de texto 2">
                <a:extLst>
                  <a:ext uri="{FF2B5EF4-FFF2-40B4-BE49-F238E27FC236}">
                    <a16:creationId xmlns:a16="http://schemas.microsoft.com/office/drawing/2014/main" id="{AA9E72FF-B948-6B7A-8909-97C6BE95D6FB}"/>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4"/>
                <a:stretch>
                  <a:fillRect l="-607" t="-738" r="-552"/>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Document all your results (neff, plot fields of different modes, comparison between different polarizations…)</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0501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6F6A31-8841-DB2E-D0E6-20DAE5D70550}"/>
              </a:ext>
            </a:extLst>
          </p:cNvPr>
          <p:cNvSpPr>
            <a:spLocks noGrp="1"/>
          </p:cNvSpPr>
          <p:nvPr>
            <p:ph type="title"/>
          </p:nvPr>
        </p:nvSpPr>
        <p:spPr/>
        <p:txBody>
          <a:bodyPr wrap="square" lIns="0" tIns="0" rIns="0" bIns="0" anchor="t">
            <a:spAutoFit/>
          </a:bodyPr>
          <a:lstStyle/>
          <a:p>
            <a:r>
              <a:rPr lang="es-ES"/>
              <a:t>Resultados apartado 1 (</a:t>
            </a:r>
            <a:r>
              <a:rPr lang="es-ES" err="1"/>
              <a:t>n_eff</a:t>
            </a:r>
            <a:r>
              <a:rPr lang="es-ES"/>
              <a:t>, </a:t>
            </a:r>
            <a:r>
              <a:rPr lang="es-ES" err="1"/>
              <a:t>fraction_te</a:t>
            </a:r>
            <a:r>
              <a:rPr lang="es-ES"/>
              <a:t>, </a:t>
            </a:r>
            <a:r>
              <a:rPr lang="es-ES" err="1"/>
              <a:t>fraction</a:t>
            </a:r>
            <a:r>
              <a:rPr lang="es-ES"/>
              <a:t>_tm)</a:t>
            </a:r>
          </a:p>
        </p:txBody>
      </p:sp>
      <p:sp>
        <p:nvSpPr>
          <p:cNvPr id="3" name="Marcador de texto 2">
            <a:extLst>
              <a:ext uri="{FF2B5EF4-FFF2-40B4-BE49-F238E27FC236}">
                <a16:creationId xmlns:a16="http://schemas.microsoft.com/office/drawing/2014/main" id="{A46455CE-857C-0356-3A50-3F740CD9B882}"/>
              </a:ext>
            </a:extLst>
          </p:cNvPr>
          <p:cNvSpPr>
            <a:spLocks noGrp="1"/>
          </p:cNvSpPr>
          <p:nvPr>
            <p:ph type="body" idx="1"/>
          </p:nvPr>
        </p:nvSpPr>
        <p:spPr>
          <a:xfrm>
            <a:off x="609600" y="849780"/>
            <a:ext cx="10972800" cy="1938992"/>
          </a:xfrm>
        </p:spPr>
        <p:txBody>
          <a:bodyPr wrap="square" lIns="0" tIns="0" rIns="0" bIns="0" anchor="t">
            <a:spAutoFit/>
          </a:bodyPr>
          <a:lstStyle/>
          <a:p>
            <a:r>
              <a:rPr lang="es-ES"/>
              <a:t>En la siguiente imagen se pueden visualizar los índices efectivos de los 4 primeros modos que aparecen en la guía de ondas, se puede apreciar como los dos primeros modos se propagan en el campo eléctrico ya que tienen valores altos en </a:t>
            </a:r>
            <a:r>
              <a:rPr lang="es-ES" err="1"/>
              <a:t>fraction_te</a:t>
            </a:r>
            <a:r>
              <a:rPr lang="es-ES"/>
              <a:t> (0.99498 y 0.99527537) mientras que los otros dos modos se propagan en el campo magnético ya que tienen valores altos en </a:t>
            </a:r>
            <a:r>
              <a:rPr lang="es-ES" err="1"/>
              <a:t>fraction_tm</a:t>
            </a:r>
            <a:r>
              <a:rPr lang="es-ES"/>
              <a:t>. Asimismo, se puede visualizar en los valores de </a:t>
            </a:r>
            <a:r>
              <a:rPr lang="es-ES" err="1"/>
              <a:t>dcoupler_neff</a:t>
            </a:r>
            <a:r>
              <a:rPr lang="es-ES"/>
              <a:t> que los 4 modos van a transmitirse en la guía y no van a mitigarse antes de llegar al final de esta ya que a diferencia de en la práctica anterior, en esta todos los valores reales son mayores a 1.5. Esto se debe a que al tener las dos guías tan cerca sus campos se solapan, lo que hace que se confinen mejor los modos dentro de las guías.</a:t>
            </a:r>
            <a:endParaRPr lang="es-ES" err="1">
              <a:solidFill>
                <a:srgbClr val="000000"/>
              </a:solidFill>
              <a:latin typeface="Calibri"/>
              <a:ea typeface="Calibri"/>
              <a:cs typeface="Calibri"/>
            </a:endParaRPr>
          </a:p>
        </p:txBody>
      </p:sp>
      <p:sp>
        <p:nvSpPr>
          <p:cNvPr id="4" name="Marcador de pie de página 3">
            <a:extLst>
              <a:ext uri="{FF2B5EF4-FFF2-40B4-BE49-F238E27FC236}">
                <a16:creationId xmlns:a16="http://schemas.microsoft.com/office/drawing/2014/main" id="{862EC190-8BD2-1663-7506-ABCC7743E1CF}"/>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538A984C-8EDE-43DD-A4BF-BA826216C95E}"/>
              </a:ext>
            </a:extLst>
          </p:cNvPr>
          <p:cNvSpPr>
            <a:spLocks noGrp="1"/>
          </p:cNvSpPr>
          <p:nvPr>
            <p:ph type="sldNum" sz="quarter" idx="7"/>
          </p:nvPr>
        </p:nvSpPr>
        <p:spPr/>
        <p:txBody>
          <a:bodyPr/>
          <a:lstStyle/>
          <a:p>
            <a:fld id="{B6F15528-21DE-4FAA-801E-634DDDAF4B2B}" type="slidenum">
              <a:rPr lang="es-ES" smtClean="0"/>
              <a:t>5</a:t>
            </a:fld>
            <a:endParaRPr lang="es-ES"/>
          </a:p>
        </p:txBody>
      </p:sp>
      <p:pic>
        <p:nvPicPr>
          <p:cNvPr id="6" name="Imagen 5" descr="Texto&#10;&#10;El contenido generado por IA puede ser incorrecto.">
            <a:extLst>
              <a:ext uri="{FF2B5EF4-FFF2-40B4-BE49-F238E27FC236}">
                <a16:creationId xmlns:a16="http://schemas.microsoft.com/office/drawing/2014/main" id="{7CFCF10F-CB4D-76BD-85E2-A3EC21542D86}"/>
              </a:ext>
            </a:extLst>
          </p:cNvPr>
          <p:cNvPicPr>
            <a:picLocks noChangeAspect="1"/>
          </p:cNvPicPr>
          <p:nvPr/>
        </p:nvPicPr>
        <p:blipFill>
          <a:blip r:embed="rId2"/>
          <a:stretch>
            <a:fillRect/>
          </a:stretch>
        </p:blipFill>
        <p:spPr>
          <a:xfrm>
            <a:off x="3739599" y="2774810"/>
            <a:ext cx="4734892" cy="3848379"/>
          </a:xfrm>
          <a:prstGeom prst="rect">
            <a:avLst/>
          </a:prstGeom>
        </p:spPr>
      </p:pic>
    </p:spTree>
    <p:extLst>
      <p:ext uri="{BB962C8B-B14F-4D97-AF65-F5344CB8AC3E}">
        <p14:creationId xmlns:p14="http://schemas.microsoft.com/office/powerpoint/2010/main" val="40337918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3B95DA-E282-52D2-2C46-46852A9D9BA3}"/>
              </a:ext>
            </a:extLst>
          </p:cNvPr>
          <p:cNvSpPr>
            <a:spLocks noGrp="1"/>
          </p:cNvSpPr>
          <p:nvPr>
            <p:ph type="title"/>
          </p:nvPr>
        </p:nvSpPr>
        <p:spPr/>
        <p:txBody>
          <a:bodyPr wrap="square" lIns="0" tIns="0" rIns="0" bIns="0" anchor="t">
            <a:spAutoFit/>
          </a:bodyPr>
          <a:lstStyle/>
          <a:p>
            <a:r>
              <a:rPr lang="es-ES">
                <a:ea typeface="Calibri"/>
              </a:rPr>
              <a:t>Resultados apartado 1 (</a:t>
            </a:r>
            <a:r>
              <a:rPr lang="es-ES" err="1">
                <a:ea typeface="Calibri"/>
              </a:rPr>
              <a:t>Plots</a:t>
            </a:r>
            <a:r>
              <a:rPr lang="es-ES">
                <a:ea typeface="Calibri"/>
              </a:rPr>
              <a:t>)</a:t>
            </a:r>
            <a:endParaRPr lang="es-ES"/>
          </a:p>
        </p:txBody>
      </p:sp>
      <p:sp>
        <p:nvSpPr>
          <p:cNvPr id="3" name="Marcador de texto 2">
            <a:extLst>
              <a:ext uri="{FF2B5EF4-FFF2-40B4-BE49-F238E27FC236}">
                <a16:creationId xmlns:a16="http://schemas.microsoft.com/office/drawing/2014/main" id="{EFB67003-D114-4F92-B82A-588B0C93AA5D}"/>
              </a:ext>
            </a:extLst>
          </p:cNvPr>
          <p:cNvSpPr>
            <a:spLocks noGrp="1"/>
          </p:cNvSpPr>
          <p:nvPr>
            <p:ph type="body" idx="1"/>
          </p:nvPr>
        </p:nvSpPr>
        <p:spPr>
          <a:xfrm>
            <a:off x="587513" y="827693"/>
            <a:ext cx="10972800" cy="1661993"/>
          </a:xfrm>
        </p:spPr>
        <p:txBody>
          <a:bodyPr wrap="square" lIns="0" tIns="0" rIns="0" bIns="0" anchor="t">
            <a:spAutoFit/>
          </a:bodyPr>
          <a:lstStyle/>
          <a:p>
            <a:r>
              <a:rPr lang="es-ES"/>
              <a:t>En las siguientes imágenes se pueden visualizar los </a:t>
            </a:r>
            <a:r>
              <a:rPr lang="es-ES" err="1"/>
              <a:t>plots</a:t>
            </a:r>
            <a:r>
              <a:rPr lang="es-ES"/>
              <a:t> obtenidos en cada uno de los modos, se puede visualizar que los dos primeros modos se transmiten prioritariamente en el eje x lo que indica que son de campo eléctrico, mientras que los otros dos modos se transmiten en el eje y es decir en el campo magnético. Los primeros modos de cada campo se transmiten en la misma dirección en ambas guías mientras que los otros dos modos se transmiten en direcciones opuestas, esto se produce debido al acoplamiento de los modos individuales de cada guía formando el modo simétrico (ambas guías misma dirección) y el asimétrico (distinta dirección en ambas guías).</a:t>
            </a:r>
            <a:endParaRPr lang="es-ES">
              <a:solidFill>
                <a:srgbClr val="000000"/>
              </a:solidFill>
              <a:latin typeface="Calibri"/>
              <a:ea typeface="Calibri"/>
              <a:cs typeface="Calibri"/>
            </a:endParaRPr>
          </a:p>
        </p:txBody>
      </p:sp>
      <p:sp>
        <p:nvSpPr>
          <p:cNvPr id="4" name="Marcador de pie de página 3">
            <a:extLst>
              <a:ext uri="{FF2B5EF4-FFF2-40B4-BE49-F238E27FC236}">
                <a16:creationId xmlns:a16="http://schemas.microsoft.com/office/drawing/2014/main" id="{CC1FF18F-5DA5-2B22-5873-1DFF523EDAFF}"/>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09FCA1D0-453C-2EC1-5512-B9A99CB0900D}"/>
              </a:ext>
            </a:extLst>
          </p:cNvPr>
          <p:cNvSpPr>
            <a:spLocks noGrp="1"/>
          </p:cNvSpPr>
          <p:nvPr>
            <p:ph type="sldNum" sz="quarter" idx="7"/>
          </p:nvPr>
        </p:nvSpPr>
        <p:spPr/>
        <p:txBody>
          <a:bodyPr/>
          <a:lstStyle/>
          <a:p>
            <a:fld id="{B6F15528-21DE-4FAA-801E-634DDDAF4B2B}" type="slidenum">
              <a:rPr lang="es-ES"/>
              <a:t>6</a:t>
            </a:fld>
            <a:endParaRPr lang="es-ES"/>
          </a:p>
        </p:txBody>
      </p:sp>
      <p:pic>
        <p:nvPicPr>
          <p:cNvPr id="6" name="Imagen 5" descr="Imagen que contiene Rectángulo&#10;&#10;El contenido generado por IA puede ser incorrecto.">
            <a:extLst>
              <a:ext uri="{FF2B5EF4-FFF2-40B4-BE49-F238E27FC236}">
                <a16:creationId xmlns:a16="http://schemas.microsoft.com/office/drawing/2014/main" id="{A4FBEC85-2C93-289E-8793-5E20BC945ED1}"/>
              </a:ext>
            </a:extLst>
          </p:cNvPr>
          <p:cNvPicPr>
            <a:picLocks noChangeAspect="1"/>
          </p:cNvPicPr>
          <p:nvPr/>
        </p:nvPicPr>
        <p:blipFill>
          <a:blip r:embed="rId2"/>
          <a:stretch>
            <a:fillRect/>
          </a:stretch>
        </p:blipFill>
        <p:spPr>
          <a:xfrm>
            <a:off x="146257" y="4187755"/>
            <a:ext cx="3042617" cy="1983273"/>
          </a:xfrm>
          <a:prstGeom prst="rect">
            <a:avLst/>
          </a:prstGeom>
        </p:spPr>
      </p:pic>
      <p:pic>
        <p:nvPicPr>
          <p:cNvPr id="7" name="Imagen 6" descr="Gráfico, Gráfico de burbujas&#10;&#10;El contenido generado por IA puede ser incorrecto.">
            <a:extLst>
              <a:ext uri="{FF2B5EF4-FFF2-40B4-BE49-F238E27FC236}">
                <a16:creationId xmlns:a16="http://schemas.microsoft.com/office/drawing/2014/main" id="{31FE5FD5-C03C-3181-CA86-E992FF68C1F1}"/>
              </a:ext>
            </a:extLst>
          </p:cNvPr>
          <p:cNvPicPr>
            <a:picLocks noChangeAspect="1"/>
          </p:cNvPicPr>
          <p:nvPr/>
        </p:nvPicPr>
        <p:blipFill>
          <a:blip r:embed="rId3"/>
          <a:stretch>
            <a:fillRect/>
          </a:stretch>
        </p:blipFill>
        <p:spPr>
          <a:xfrm>
            <a:off x="3198607" y="4184511"/>
            <a:ext cx="3056008" cy="1989760"/>
          </a:xfrm>
          <a:prstGeom prst="rect">
            <a:avLst/>
          </a:prstGeom>
        </p:spPr>
      </p:pic>
      <p:pic>
        <p:nvPicPr>
          <p:cNvPr id="8" name="Imagen 7" descr="Gráfico&#10;&#10;El contenido generado por IA puede ser incorrecto.">
            <a:extLst>
              <a:ext uri="{FF2B5EF4-FFF2-40B4-BE49-F238E27FC236}">
                <a16:creationId xmlns:a16="http://schemas.microsoft.com/office/drawing/2014/main" id="{2F7C8C5D-82B4-9086-7B5E-3DC86AE3F39D}"/>
              </a:ext>
            </a:extLst>
          </p:cNvPr>
          <p:cNvPicPr>
            <a:picLocks noChangeAspect="1"/>
          </p:cNvPicPr>
          <p:nvPr/>
        </p:nvPicPr>
        <p:blipFill>
          <a:blip r:embed="rId4"/>
          <a:stretch>
            <a:fillRect/>
          </a:stretch>
        </p:blipFill>
        <p:spPr>
          <a:xfrm>
            <a:off x="6248123" y="4182993"/>
            <a:ext cx="3041928" cy="1992798"/>
          </a:xfrm>
          <a:prstGeom prst="rect">
            <a:avLst/>
          </a:prstGeom>
        </p:spPr>
      </p:pic>
      <p:pic>
        <p:nvPicPr>
          <p:cNvPr id="9" name="Imagen 8" descr="Gráfico&#10;&#10;El contenido generado por IA puede ser incorrecto.">
            <a:extLst>
              <a:ext uri="{FF2B5EF4-FFF2-40B4-BE49-F238E27FC236}">
                <a16:creationId xmlns:a16="http://schemas.microsoft.com/office/drawing/2014/main" id="{8E7BA9DD-3E4C-47D3-EFEC-8DB6E0F952BE}"/>
              </a:ext>
            </a:extLst>
          </p:cNvPr>
          <p:cNvPicPr>
            <a:picLocks noChangeAspect="1"/>
          </p:cNvPicPr>
          <p:nvPr/>
        </p:nvPicPr>
        <p:blipFill>
          <a:blip r:embed="rId5"/>
          <a:stretch>
            <a:fillRect/>
          </a:stretch>
        </p:blipFill>
        <p:spPr>
          <a:xfrm>
            <a:off x="9288532" y="4304679"/>
            <a:ext cx="2902503" cy="1892992"/>
          </a:xfrm>
          <a:prstGeom prst="rect">
            <a:avLst/>
          </a:prstGeom>
        </p:spPr>
      </p:pic>
    </p:spTree>
    <p:extLst>
      <p:ext uri="{BB962C8B-B14F-4D97-AF65-F5344CB8AC3E}">
        <p14:creationId xmlns:p14="http://schemas.microsoft.com/office/powerpoint/2010/main" val="3946807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F19905-1EB6-2938-0E41-F39A4240BAD7}"/>
              </a:ext>
            </a:extLst>
          </p:cNvPr>
          <p:cNvSpPr>
            <a:spLocks noGrp="1"/>
          </p:cNvSpPr>
          <p:nvPr>
            <p:ph type="title"/>
          </p:nvPr>
        </p:nvSpPr>
        <p:spPr>
          <a:xfrm>
            <a:off x="590550" y="206752"/>
            <a:ext cx="10991850" cy="307777"/>
          </a:xfrm>
        </p:spPr>
        <p:txBody>
          <a:bodyPr wrap="square" lIns="0" tIns="0" rIns="0" bIns="0" anchor="t">
            <a:spAutoFit/>
          </a:bodyPr>
          <a:lstStyle/>
          <a:p>
            <a:r>
              <a:rPr lang="es-ES">
                <a:ea typeface="Calibri"/>
              </a:rPr>
              <a:t>Resultados apartado 1 (</a:t>
            </a:r>
            <a:r>
              <a:rPr lang="es-ES">
                <a:solidFill>
                  <a:srgbClr val="000000"/>
                </a:solidFill>
                <a:ea typeface="Calibri"/>
              </a:rPr>
              <a:t>𝐿𝜋)</a:t>
            </a:r>
            <a:endParaRPr lang="es-ES">
              <a:ea typeface="Calibri"/>
            </a:endParaRPr>
          </a:p>
        </p:txBody>
      </p:sp>
      <p:sp>
        <p:nvSpPr>
          <p:cNvPr id="3" name="Marcador de texto 2">
            <a:extLst>
              <a:ext uri="{FF2B5EF4-FFF2-40B4-BE49-F238E27FC236}">
                <a16:creationId xmlns:a16="http://schemas.microsoft.com/office/drawing/2014/main" id="{D80B3E91-F470-F6DF-FCB4-72B071AC3924}"/>
              </a:ext>
            </a:extLst>
          </p:cNvPr>
          <p:cNvSpPr>
            <a:spLocks noGrp="1"/>
          </p:cNvSpPr>
          <p:nvPr>
            <p:ph type="body" idx="1"/>
          </p:nvPr>
        </p:nvSpPr>
        <p:spPr>
          <a:xfrm>
            <a:off x="587513" y="783519"/>
            <a:ext cx="10972800" cy="276999"/>
          </a:xfrm>
        </p:spPr>
        <p:txBody>
          <a:bodyPr wrap="square" lIns="0" tIns="0" rIns="0" bIns="0" anchor="t">
            <a:spAutoFit/>
          </a:bodyPr>
          <a:lstStyle/>
          <a:p>
            <a:r>
              <a:rPr lang="es-ES"/>
              <a:t>El último apartado del ejercicio es el cálculo de 𝐿𝜋 a través de la formula: </a:t>
            </a:r>
            <a:endParaRPr lang="es-ES">
              <a:solidFill>
                <a:srgbClr val="000000"/>
              </a:solidFill>
              <a:latin typeface="Calibri"/>
              <a:ea typeface="Calibri"/>
              <a:cs typeface="Calibri"/>
            </a:endParaRPr>
          </a:p>
        </p:txBody>
      </p:sp>
      <p:sp>
        <p:nvSpPr>
          <p:cNvPr id="4" name="Marcador de pie de página 3">
            <a:extLst>
              <a:ext uri="{FF2B5EF4-FFF2-40B4-BE49-F238E27FC236}">
                <a16:creationId xmlns:a16="http://schemas.microsoft.com/office/drawing/2014/main" id="{F3EEA687-811A-85B1-1CC5-991B0C0381A2}"/>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995D8940-3B8C-C2A3-F758-D3F7E6F99179}"/>
              </a:ext>
            </a:extLst>
          </p:cNvPr>
          <p:cNvSpPr>
            <a:spLocks noGrp="1"/>
          </p:cNvSpPr>
          <p:nvPr>
            <p:ph type="sldNum" sz="quarter" idx="7"/>
          </p:nvPr>
        </p:nvSpPr>
        <p:spPr/>
        <p:txBody>
          <a:bodyPr/>
          <a:lstStyle/>
          <a:p>
            <a:fld id="{B6F15528-21DE-4FAA-801E-634DDDAF4B2B}" type="slidenum">
              <a:rPr lang="es-ES"/>
              <a:t>7</a:t>
            </a:fld>
            <a:endParaRPr lang="es-ES"/>
          </a:p>
        </p:txBody>
      </p:sp>
      <p:pic>
        <p:nvPicPr>
          <p:cNvPr id="6" name="Imagen 5" descr="Interfaz de usuario gráfica, Texto, Aplicación&#10;&#10;El contenido generado por IA puede ser incorrecto.">
            <a:extLst>
              <a:ext uri="{FF2B5EF4-FFF2-40B4-BE49-F238E27FC236}">
                <a16:creationId xmlns:a16="http://schemas.microsoft.com/office/drawing/2014/main" id="{DF04917B-BE32-85DC-EA30-BAE63FD09F22}"/>
              </a:ext>
            </a:extLst>
          </p:cNvPr>
          <p:cNvPicPr>
            <a:picLocks noChangeAspect="1"/>
          </p:cNvPicPr>
          <p:nvPr/>
        </p:nvPicPr>
        <p:blipFill>
          <a:blip r:embed="rId2"/>
          <a:stretch>
            <a:fillRect/>
          </a:stretch>
        </p:blipFill>
        <p:spPr>
          <a:xfrm>
            <a:off x="611877" y="2026754"/>
            <a:ext cx="10239375" cy="3467100"/>
          </a:xfrm>
          <a:prstGeom prst="rect">
            <a:avLst/>
          </a:prstGeom>
        </p:spPr>
      </p:pic>
      <p:pic>
        <p:nvPicPr>
          <p:cNvPr id="7" name="Imagen 6">
            <a:extLst>
              <a:ext uri="{FF2B5EF4-FFF2-40B4-BE49-F238E27FC236}">
                <a16:creationId xmlns:a16="http://schemas.microsoft.com/office/drawing/2014/main" id="{43315956-F5EA-9D0D-F705-ABE970B54DE6}"/>
              </a:ext>
            </a:extLst>
          </p:cNvPr>
          <p:cNvPicPr>
            <a:picLocks noChangeAspect="1"/>
          </p:cNvPicPr>
          <p:nvPr/>
        </p:nvPicPr>
        <p:blipFill>
          <a:blip r:embed="rId3"/>
          <a:stretch>
            <a:fillRect/>
          </a:stretch>
        </p:blipFill>
        <p:spPr>
          <a:xfrm>
            <a:off x="8641246" y="519320"/>
            <a:ext cx="1866900" cy="1181100"/>
          </a:xfrm>
          <a:prstGeom prst="rect">
            <a:avLst/>
          </a:prstGeom>
        </p:spPr>
      </p:pic>
      <p:pic>
        <p:nvPicPr>
          <p:cNvPr id="8" name="Imagen 7">
            <a:extLst>
              <a:ext uri="{FF2B5EF4-FFF2-40B4-BE49-F238E27FC236}">
                <a16:creationId xmlns:a16="http://schemas.microsoft.com/office/drawing/2014/main" id="{B2D8DB47-948C-BACE-BCE6-38BF8E85C9BD}"/>
              </a:ext>
            </a:extLst>
          </p:cNvPr>
          <p:cNvPicPr>
            <a:picLocks noChangeAspect="1"/>
          </p:cNvPicPr>
          <p:nvPr/>
        </p:nvPicPr>
        <p:blipFill>
          <a:blip r:embed="rId4"/>
          <a:stretch>
            <a:fillRect/>
          </a:stretch>
        </p:blipFill>
        <p:spPr>
          <a:xfrm>
            <a:off x="7822578" y="779324"/>
            <a:ext cx="809625" cy="771525"/>
          </a:xfrm>
          <a:prstGeom prst="rect">
            <a:avLst/>
          </a:prstGeom>
        </p:spPr>
      </p:pic>
    </p:spTree>
    <p:extLst>
      <p:ext uri="{BB962C8B-B14F-4D97-AF65-F5344CB8AC3E}">
        <p14:creationId xmlns:p14="http://schemas.microsoft.com/office/powerpoint/2010/main" val="30629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#2 – Directional coupler length and coupling coefficient</a:t>
            </a:r>
            <a:br>
              <a:rPr lang="en-US" sz="2500" spc="-5">
                <a:latin typeface="+mj-lt"/>
                <a:cs typeface="Lucida Sans"/>
              </a:rPr>
            </a:br>
            <a:r>
              <a:rPr lang="en-US" b="0"/>
              <a:t>Wavelength 1.5 µm – width 1.2 µm – gap 0.6 µm – thickness 300 nm</a:t>
            </a:r>
            <a:endParaRPr lang="en-US" sz="2500" b="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Comment results (distance needed for a complete energy transfer between waveguides, distance needed for splitting power in half.. )</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21F754A5-65BC-14A3-5F55-75716FFA9027}"/>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D9C65D4-5494-F5CE-1094-CB0A32C33876}"/>
              </a:ext>
            </a:extLst>
          </p:cNvPr>
          <p:cNvSpPr txBox="1"/>
          <p:nvPr/>
        </p:nvSpPr>
        <p:spPr>
          <a:xfrm>
            <a:off x="3909688" y="2609722"/>
            <a:ext cx="4546634"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L/</a:t>
            </a:r>
            <a:r>
              <a:rPr lang="en-US" err="1"/>
              <a:t>Lpi</a:t>
            </a:r>
            <a:r>
              <a:rPr lang="en-US"/>
              <a:t> vs K plot here</a:t>
            </a:r>
          </a:p>
        </p:txBody>
      </p:sp>
      <p:pic>
        <p:nvPicPr>
          <p:cNvPr id="6" name="Imagen 5" descr="Forma&#10;&#10;Descripción generada automáticamente con confianza media">
            <a:extLst>
              <a:ext uri="{FF2B5EF4-FFF2-40B4-BE49-F238E27FC236}">
                <a16:creationId xmlns:a16="http://schemas.microsoft.com/office/drawing/2014/main" id="{380A8455-6386-C7D5-7BB6-B79D8D91F0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588" y="1626040"/>
            <a:ext cx="3383313" cy="983682"/>
          </a:xfrm>
          <a:prstGeom prst="rect">
            <a:avLst/>
          </a:prstGeom>
        </p:spPr>
      </p:pic>
    </p:spTree>
    <p:extLst>
      <p:ext uri="{BB962C8B-B14F-4D97-AF65-F5344CB8AC3E}">
        <p14:creationId xmlns:p14="http://schemas.microsoft.com/office/powerpoint/2010/main" val="3663624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99F289-4382-9F50-CA8F-88A91BB0E797}"/>
              </a:ext>
            </a:extLst>
          </p:cNvPr>
          <p:cNvSpPr>
            <a:spLocks noGrp="1"/>
          </p:cNvSpPr>
          <p:nvPr>
            <p:ph type="title"/>
          </p:nvPr>
        </p:nvSpPr>
        <p:spPr/>
        <p:txBody>
          <a:bodyPr wrap="square" lIns="0" tIns="0" rIns="0" bIns="0" anchor="t">
            <a:spAutoFit/>
          </a:bodyPr>
          <a:lstStyle/>
          <a:p>
            <a:r>
              <a:rPr lang="es-ES">
                <a:ea typeface="Calibri"/>
              </a:rPr>
              <a:t>Resultados apartado 2</a:t>
            </a:r>
            <a:endParaRPr lang="es-ES"/>
          </a:p>
        </p:txBody>
      </p:sp>
      <p:sp>
        <p:nvSpPr>
          <p:cNvPr id="3" name="Marcador de texto 2">
            <a:extLst>
              <a:ext uri="{FF2B5EF4-FFF2-40B4-BE49-F238E27FC236}">
                <a16:creationId xmlns:a16="http://schemas.microsoft.com/office/drawing/2014/main" id="{AE9FABA0-ABCF-E535-1BD3-C1AB9799BD56}"/>
              </a:ext>
            </a:extLst>
          </p:cNvPr>
          <p:cNvSpPr>
            <a:spLocks noGrp="1"/>
          </p:cNvSpPr>
          <p:nvPr>
            <p:ph type="body" idx="1"/>
          </p:nvPr>
        </p:nvSpPr>
        <p:spPr>
          <a:xfrm>
            <a:off x="598557" y="827693"/>
            <a:ext cx="10972800" cy="1661993"/>
          </a:xfrm>
        </p:spPr>
        <p:txBody>
          <a:bodyPr wrap="square" lIns="0" tIns="0" rIns="0" bIns="0" anchor="t">
            <a:spAutoFit/>
          </a:bodyPr>
          <a:lstStyle/>
          <a:p>
            <a:r>
              <a:rPr lang="es-ES">
                <a:solidFill>
                  <a:srgbClr val="000000"/>
                </a:solidFill>
                <a:ea typeface="+mn-lt"/>
                <a:cs typeface="+mn-lt"/>
              </a:rPr>
              <a:t>En este apartado se calcula el coeficiente de acoplamiento, el cual determina la transferencia de potencia entre las dos guías de onda. La potencia en la salida de cada guía depende de la relación entre la longitud física del acoplador y la longitud característica de acoplo Lπ. En las gráficas se observa que la transferencia de potencia es periódica en función de L/Lπ : cuando L/Lπ=1,3,5,… se produce transferencia completa de potencia hacia la otra guía, mientras que cuando L/Lπ=0,2,4,… la potencia permanece en la guía original. Esta alternancia se debe a la interferencia entre los </a:t>
            </a:r>
            <a:r>
              <a:rPr lang="es-ES" err="1">
                <a:solidFill>
                  <a:srgbClr val="000000"/>
                </a:solidFill>
                <a:ea typeface="+mn-lt"/>
                <a:cs typeface="+mn-lt"/>
              </a:rPr>
              <a:t>supermodos</a:t>
            </a:r>
            <a:r>
              <a:rPr lang="es-ES">
                <a:solidFill>
                  <a:srgbClr val="000000"/>
                </a:solidFill>
                <a:ea typeface="+mn-lt"/>
                <a:cs typeface="+mn-lt"/>
              </a:rPr>
              <a:t> del sistema acoplado.</a:t>
            </a:r>
            <a:endParaRPr lang="es-ES"/>
          </a:p>
        </p:txBody>
      </p:sp>
      <p:sp>
        <p:nvSpPr>
          <p:cNvPr id="4" name="Marcador de pie de página 3">
            <a:extLst>
              <a:ext uri="{FF2B5EF4-FFF2-40B4-BE49-F238E27FC236}">
                <a16:creationId xmlns:a16="http://schemas.microsoft.com/office/drawing/2014/main" id="{7600DC61-9B89-6CCC-43F8-819EAC3D9602}"/>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224AAC58-C887-5E8C-DB6E-E214F1E1403E}"/>
              </a:ext>
            </a:extLst>
          </p:cNvPr>
          <p:cNvSpPr>
            <a:spLocks noGrp="1"/>
          </p:cNvSpPr>
          <p:nvPr>
            <p:ph type="sldNum" sz="quarter" idx="7"/>
          </p:nvPr>
        </p:nvSpPr>
        <p:spPr/>
        <p:txBody>
          <a:bodyPr/>
          <a:lstStyle/>
          <a:p>
            <a:fld id="{B6F15528-21DE-4FAA-801E-634DDDAF4B2B}" type="slidenum">
              <a:rPr lang="es-ES"/>
              <a:t>9</a:t>
            </a:fld>
            <a:endParaRPr lang="es-ES"/>
          </a:p>
        </p:txBody>
      </p:sp>
      <p:pic>
        <p:nvPicPr>
          <p:cNvPr id="6" name="Imagen 5" descr="Gráfico, Gráfico de líneas&#10;&#10;El contenido generado por IA puede ser incorrecto.">
            <a:extLst>
              <a:ext uri="{FF2B5EF4-FFF2-40B4-BE49-F238E27FC236}">
                <a16:creationId xmlns:a16="http://schemas.microsoft.com/office/drawing/2014/main" id="{0F858544-B6DE-D932-2DBB-9FE4209513FA}"/>
              </a:ext>
            </a:extLst>
          </p:cNvPr>
          <p:cNvPicPr>
            <a:picLocks noChangeAspect="1"/>
          </p:cNvPicPr>
          <p:nvPr/>
        </p:nvPicPr>
        <p:blipFill>
          <a:blip r:embed="rId2"/>
          <a:stretch>
            <a:fillRect/>
          </a:stretch>
        </p:blipFill>
        <p:spPr>
          <a:xfrm>
            <a:off x="244820" y="3353973"/>
            <a:ext cx="5849316" cy="3109705"/>
          </a:xfrm>
          <a:prstGeom prst="rect">
            <a:avLst/>
          </a:prstGeom>
        </p:spPr>
      </p:pic>
      <p:pic>
        <p:nvPicPr>
          <p:cNvPr id="7" name="Imagen 6" descr="Gráfico, Gráfico de líneas&#10;&#10;El contenido generado por IA puede ser incorrecto.">
            <a:extLst>
              <a:ext uri="{FF2B5EF4-FFF2-40B4-BE49-F238E27FC236}">
                <a16:creationId xmlns:a16="http://schemas.microsoft.com/office/drawing/2014/main" id="{7F9A29C7-28FF-D80F-B6C1-EB7796C8581D}"/>
              </a:ext>
            </a:extLst>
          </p:cNvPr>
          <p:cNvPicPr>
            <a:picLocks noChangeAspect="1"/>
          </p:cNvPicPr>
          <p:nvPr/>
        </p:nvPicPr>
        <p:blipFill>
          <a:blip r:embed="rId3"/>
          <a:stretch>
            <a:fillRect/>
          </a:stretch>
        </p:blipFill>
        <p:spPr>
          <a:xfrm>
            <a:off x="6099383" y="3348935"/>
            <a:ext cx="5846280" cy="2865783"/>
          </a:xfrm>
          <a:prstGeom prst="rect">
            <a:avLst/>
          </a:prstGeom>
        </p:spPr>
      </p:pic>
    </p:spTree>
    <p:extLst>
      <p:ext uri="{BB962C8B-B14F-4D97-AF65-F5344CB8AC3E}">
        <p14:creationId xmlns:p14="http://schemas.microsoft.com/office/powerpoint/2010/main" val="1003718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#3 – 2x2 Directional Coupler</a:t>
            </a:r>
            <a:br>
              <a:rPr lang="en-US" sz="2500" spc="-5">
                <a:latin typeface="+mj-lt"/>
                <a:cs typeface="Lucida Sans"/>
              </a:rPr>
            </a:br>
            <a:r>
              <a:rPr lang="en-US" b="0"/>
              <a:t>Wavelength 1.55 µm – Sweep gaps between 0.2 and 1.2 µm in steps of 0.2 µm</a:t>
            </a:r>
            <a:endParaRPr lang="en-US" sz="2500" b="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Comment results (Coupling relationship, </a:t>
            </a:r>
            <a:r>
              <a:rPr lang="en-US" sz="1200" err="1">
                <a:latin typeface="Arial" panose="020B0604020202020204" pitchFamily="34" charset="0"/>
                <a:cs typeface="Arial" panose="020B0604020202020204" pitchFamily="34" charset="0"/>
              </a:rPr>
              <a:t>Lpi</a:t>
            </a:r>
            <a:r>
              <a:rPr lang="en-US" sz="1200">
                <a:latin typeface="Arial" panose="020B0604020202020204" pitchFamily="34" charset="0"/>
                <a:cs typeface="Arial" panose="020B0604020202020204" pitchFamily="34" charset="0"/>
              </a:rPr>
              <a:t>, losses, … )</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1EF5BFDA-8EC1-8C73-A932-F36C4DB93C73}"/>
              </a:ext>
            </a:extLst>
          </p:cNvPr>
          <p:cNvSpPr txBox="1"/>
          <p:nvPr/>
        </p:nvSpPr>
        <p:spPr>
          <a:xfrm>
            <a:off x="2286000" y="2671278"/>
            <a:ext cx="7718580"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propagation plots and output text here</a:t>
            </a:r>
          </a:p>
        </p:txBody>
      </p:sp>
    </p:spTree>
    <p:extLst>
      <p:ext uri="{BB962C8B-B14F-4D97-AF65-F5344CB8AC3E}">
        <p14:creationId xmlns:p14="http://schemas.microsoft.com/office/powerpoint/2010/main" val="1558326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BBEFAD-A448-C1C8-F2B0-5CE701AA63D5}"/>
              </a:ext>
            </a:extLst>
          </p:cNvPr>
          <p:cNvSpPr>
            <a:spLocks noGrp="1"/>
          </p:cNvSpPr>
          <p:nvPr>
            <p:ph type="title"/>
          </p:nvPr>
        </p:nvSpPr>
        <p:spPr/>
        <p:txBody>
          <a:bodyPr wrap="square" lIns="0" tIns="0" rIns="0" bIns="0" anchor="t">
            <a:spAutoFit/>
          </a:bodyPr>
          <a:lstStyle/>
          <a:p>
            <a:r>
              <a:rPr lang="es-ES">
                <a:ea typeface="Calibri"/>
              </a:rPr>
              <a:t>Resultados apartado 3</a:t>
            </a:r>
            <a:endParaRPr lang="es-ES"/>
          </a:p>
        </p:txBody>
      </p:sp>
      <p:sp>
        <p:nvSpPr>
          <p:cNvPr id="3" name="Marcador de texto 2">
            <a:extLst>
              <a:ext uri="{FF2B5EF4-FFF2-40B4-BE49-F238E27FC236}">
                <a16:creationId xmlns:a16="http://schemas.microsoft.com/office/drawing/2014/main" id="{F78A6A19-A0E2-F68D-7537-0FBBB137F707}"/>
              </a:ext>
            </a:extLst>
          </p:cNvPr>
          <p:cNvSpPr>
            <a:spLocks noGrp="1"/>
          </p:cNvSpPr>
          <p:nvPr>
            <p:ph type="body" idx="1"/>
          </p:nvPr>
        </p:nvSpPr>
        <p:spPr>
          <a:xfrm>
            <a:off x="598557" y="783519"/>
            <a:ext cx="10983843" cy="4708981"/>
          </a:xfrm>
        </p:spPr>
        <p:txBody>
          <a:bodyPr wrap="square" lIns="0" tIns="0" rIns="0" bIns="0" anchor="t">
            <a:spAutoFit/>
          </a:bodyPr>
          <a:lstStyle/>
          <a:p>
            <a:r>
              <a:rPr lang="es-ES"/>
              <a:t>En este apartado se pretende apreciar el efecto que tiene en un acoplador 2x2 (50/50) la distancia que separa los núcleos de las guías de onda que lo componen. Para ello se ha ido modificando esta distancia en </a:t>
            </a:r>
            <a:r>
              <a:rPr lang="es-ES">
                <a:solidFill>
                  <a:srgbClr val="000000"/>
                </a:solidFill>
                <a:latin typeface="Calibri"/>
                <a:ea typeface="Calibri"/>
                <a:cs typeface="Calibri"/>
              </a:rPr>
              <a:t>saltos de 0.2 µm,  en pantalla se pueden ver 3 resultados de las simulaciones el primero es con una longi</a:t>
            </a:r>
            <a:r>
              <a:rPr lang="es-ES"/>
              <a:t>tud</a:t>
            </a:r>
            <a:r>
              <a:rPr lang="es-ES">
                <a:solidFill>
                  <a:srgbClr val="000000"/>
                </a:solidFill>
                <a:latin typeface="Calibri"/>
                <a:ea typeface="Calibri"/>
                <a:cs typeface="Calibri"/>
              </a:rPr>
              <a:t> de 0.2 µm, el siguiente 0.6 µm y el último 1.2 µm. Se puede apreciar como a medida que aumenta la distancia entre núcleos aumenta la distancia de acoplo (</a:t>
            </a:r>
            <a:r>
              <a:rPr lang="es-ES" err="1">
                <a:solidFill>
                  <a:srgbClr val="000000"/>
                </a:solidFill>
                <a:latin typeface="Calibri"/>
                <a:ea typeface="Calibri"/>
                <a:cs typeface="Calibri"/>
              </a:rPr>
              <a:t>Lpi</a:t>
            </a:r>
            <a:r>
              <a:rPr lang="es-ES">
                <a:solidFill>
                  <a:srgbClr val="000000"/>
                </a:solidFill>
                <a:latin typeface="Calibri"/>
                <a:ea typeface="Calibri"/>
                <a:cs typeface="Calibri"/>
              </a:rPr>
              <a:t>) notablemente esto se debe a que el coeficiente de acoplo se reduce bastante necesitando mayor distancia las guías para transferir la potencia de una a otra. </a:t>
            </a:r>
            <a:endParaRPr lang="es-ES"/>
          </a:p>
          <a:p>
            <a:endParaRPr lang="es-ES">
              <a:solidFill>
                <a:srgbClr val="000000"/>
              </a:solidFill>
              <a:latin typeface="Calibri"/>
              <a:ea typeface="Calibri"/>
              <a:cs typeface="Calibri"/>
            </a:endParaRPr>
          </a:p>
          <a:p>
            <a:r>
              <a:rPr lang="es-ES">
                <a:solidFill>
                  <a:srgbClr val="000000"/>
                </a:solidFill>
                <a:latin typeface="Calibri"/>
                <a:ea typeface="Calibri"/>
                <a:cs typeface="Calibri"/>
              </a:rPr>
              <a:t>Asimismo, también se puede apreciar como cuando las guías están separadas a tan solo 0.2 µm hay bastantes perdidas mientras que cuando aumenta la distancia disminuye hasta 0.1851, donde empieza a subir otra vez hasta llegar a 0.5464, esto se debe a que cuando las guías están muy cerca se disparan las pérdidas y si están demasiado lejos también aumenta por la gran separación que hay.</a:t>
            </a:r>
          </a:p>
          <a:p>
            <a:endParaRPr lang="es-ES"/>
          </a:p>
          <a:p>
            <a:r>
              <a:rPr lang="es-ES"/>
              <a:t>Por último, cabe recalcar que en todas las </a:t>
            </a:r>
            <a:r>
              <a:rPr lang="es-ES" err="1"/>
              <a:t>guias</a:t>
            </a:r>
            <a:r>
              <a:rPr lang="es-ES"/>
              <a:t> se cumple el funcionamiento 50/50 ya que en todas las guías hay la misma cantidad de potencia.</a:t>
            </a:r>
          </a:p>
          <a:p>
            <a:endParaRPr lang="es-ES"/>
          </a:p>
          <a:p>
            <a:endParaRPr lang="es-ES"/>
          </a:p>
          <a:p>
            <a:endParaRPr lang="es-ES"/>
          </a:p>
        </p:txBody>
      </p:sp>
      <p:sp>
        <p:nvSpPr>
          <p:cNvPr id="4" name="Marcador de pie de página 3">
            <a:extLst>
              <a:ext uri="{FF2B5EF4-FFF2-40B4-BE49-F238E27FC236}">
                <a16:creationId xmlns:a16="http://schemas.microsoft.com/office/drawing/2014/main" id="{C403DD3D-046D-0F70-B1D8-3D670D87345F}"/>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38D9ABA3-23D7-9FCF-90C6-3C4ED097C1AB}"/>
              </a:ext>
            </a:extLst>
          </p:cNvPr>
          <p:cNvSpPr>
            <a:spLocks noGrp="1"/>
          </p:cNvSpPr>
          <p:nvPr>
            <p:ph type="sldNum" sz="quarter" idx="7"/>
          </p:nvPr>
        </p:nvSpPr>
        <p:spPr/>
        <p:txBody>
          <a:bodyPr/>
          <a:lstStyle/>
          <a:p>
            <a:fld id="{B6F15528-21DE-4FAA-801E-634DDDAF4B2B}" type="slidenum">
              <a:rPr lang="es-ES"/>
              <a:t>11</a:t>
            </a:fld>
            <a:endParaRPr lang="es-ES"/>
          </a:p>
        </p:txBody>
      </p:sp>
    </p:spTree>
    <p:extLst>
      <p:ext uri="{BB962C8B-B14F-4D97-AF65-F5344CB8AC3E}">
        <p14:creationId xmlns:p14="http://schemas.microsoft.com/office/powerpoint/2010/main" val="28594211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32B37F-5C94-FE34-4102-E05A656CF871}"/>
              </a:ext>
            </a:extLst>
          </p:cNvPr>
          <p:cNvSpPr>
            <a:spLocks noGrp="1"/>
          </p:cNvSpPr>
          <p:nvPr>
            <p:ph type="title"/>
          </p:nvPr>
        </p:nvSpPr>
        <p:spPr/>
        <p:txBody>
          <a:bodyPr wrap="square" lIns="0" tIns="0" rIns="0" bIns="0" anchor="t">
            <a:spAutoFit/>
          </a:bodyPr>
          <a:lstStyle/>
          <a:p>
            <a:r>
              <a:rPr lang="es-ES">
                <a:ea typeface="Calibri"/>
              </a:rPr>
              <a:t>Resultados apartado 3</a:t>
            </a:r>
            <a:endParaRPr lang="es-ES"/>
          </a:p>
        </p:txBody>
      </p:sp>
      <p:sp>
        <p:nvSpPr>
          <p:cNvPr id="4" name="Marcador de pie de página 3">
            <a:extLst>
              <a:ext uri="{FF2B5EF4-FFF2-40B4-BE49-F238E27FC236}">
                <a16:creationId xmlns:a16="http://schemas.microsoft.com/office/drawing/2014/main" id="{0413F4B9-EE05-4CE6-4BFF-E35F85D303FD}"/>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4DDDA016-AFFA-C257-0BC8-EBFD02E4C05C}"/>
              </a:ext>
            </a:extLst>
          </p:cNvPr>
          <p:cNvSpPr>
            <a:spLocks noGrp="1"/>
          </p:cNvSpPr>
          <p:nvPr>
            <p:ph type="sldNum" sz="quarter" idx="7"/>
          </p:nvPr>
        </p:nvSpPr>
        <p:spPr/>
        <p:txBody>
          <a:bodyPr/>
          <a:lstStyle/>
          <a:p>
            <a:fld id="{B6F15528-21DE-4FAA-801E-634DDDAF4B2B}" type="slidenum">
              <a:rPr lang="es-ES"/>
              <a:t>12</a:t>
            </a:fld>
            <a:endParaRPr lang="es-ES"/>
          </a:p>
        </p:txBody>
      </p:sp>
      <p:pic>
        <p:nvPicPr>
          <p:cNvPr id="7" name="Imagen 6" descr="Imagen que contiene Interfaz de usuario gráfica&#10;&#10;El contenido generado por IA puede ser incorrecto.">
            <a:extLst>
              <a:ext uri="{FF2B5EF4-FFF2-40B4-BE49-F238E27FC236}">
                <a16:creationId xmlns:a16="http://schemas.microsoft.com/office/drawing/2014/main" id="{3DC17725-821A-7673-B81C-B2D3B9E1C0C8}"/>
              </a:ext>
            </a:extLst>
          </p:cNvPr>
          <p:cNvPicPr>
            <a:picLocks noChangeAspect="1"/>
          </p:cNvPicPr>
          <p:nvPr/>
        </p:nvPicPr>
        <p:blipFill>
          <a:blip r:embed="rId2"/>
          <a:srcRect t="-116" r="4544" b="116"/>
          <a:stretch>
            <a:fillRect/>
          </a:stretch>
        </p:blipFill>
        <p:spPr>
          <a:xfrm>
            <a:off x="65597" y="1463495"/>
            <a:ext cx="3285377" cy="3302479"/>
          </a:xfrm>
          <a:prstGeom prst="rect">
            <a:avLst/>
          </a:prstGeom>
        </p:spPr>
      </p:pic>
      <p:pic>
        <p:nvPicPr>
          <p:cNvPr id="9" name="Imagen 8" descr="Texto&#10;&#10;El contenido generado por IA puede ser incorrecto.">
            <a:extLst>
              <a:ext uri="{FF2B5EF4-FFF2-40B4-BE49-F238E27FC236}">
                <a16:creationId xmlns:a16="http://schemas.microsoft.com/office/drawing/2014/main" id="{0DE6D29F-D632-315E-23AF-D27BBAA14B0D}"/>
              </a:ext>
            </a:extLst>
          </p:cNvPr>
          <p:cNvPicPr>
            <a:picLocks noChangeAspect="1"/>
          </p:cNvPicPr>
          <p:nvPr/>
        </p:nvPicPr>
        <p:blipFill>
          <a:blip r:embed="rId3"/>
          <a:stretch>
            <a:fillRect/>
          </a:stretch>
        </p:blipFill>
        <p:spPr>
          <a:xfrm>
            <a:off x="3348057" y="1461790"/>
            <a:ext cx="4060550" cy="3324502"/>
          </a:xfrm>
          <a:prstGeom prst="rect">
            <a:avLst/>
          </a:prstGeom>
        </p:spPr>
      </p:pic>
      <p:pic>
        <p:nvPicPr>
          <p:cNvPr id="11" name="Imagen 10" descr="Texto&#10;&#10;El contenido generado por IA puede ser incorrecto.">
            <a:extLst>
              <a:ext uri="{FF2B5EF4-FFF2-40B4-BE49-F238E27FC236}">
                <a16:creationId xmlns:a16="http://schemas.microsoft.com/office/drawing/2014/main" id="{A6F7D1EE-9CBC-922D-E4D4-5EFE47A146A4}"/>
              </a:ext>
            </a:extLst>
          </p:cNvPr>
          <p:cNvPicPr>
            <a:picLocks noChangeAspect="1"/>
          </p:cNvPicPr>
          <p:nvPr/>
        </p:nvPicPr>
        <p:blipFill>
          <a:blip r:embed="rId4"/>
          <a:stretch>
            <a:fillRect/>
          </a:stretch>
        </p:blipFill>
        <p:spPr>
          <a:xfrm>
            <a:off x="7407501" y="1451714"/>
            <a:ext cx="4699139" cy="3344656"/>
          </a:xfrm>
          <a:prstGeom prst="rect">
            <a:avLst/>
          </a:prstGeom>
        </p:spPr>
      </p:pic>
    </p:spTree>
    <p:extLst>
      <p:ext uri="{BB962C8B-B14F-4D97-AF65-F5344CB8AC3E}">
        <p14:creationId xmlns:p14="http://schemas.microsoft.com/office/powerpoint/2010/main" val="31750537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#4 – Parallel uncoupled waveguides – TE0 mode</a:t>
            </a:r>
            <a:br>
              <a:rPr lang="en-US" sz="2500" spc="-5">
                <a:latin typeface="+mj-lt"/>
                <a:cs typeface="Lucida Sans"/>
              </a:rPr>
            </a:br>
            <a:r>
              <a:rPr lang="en-US" b="0"/>
              <a:t>Wavelength 1.55 µm, width 1.0 µm, gap to be found for uncoupled </a:t>
            </a:r>
            <a:r>
              <a:rPr lang="en-US" b="0" err="1"/>
              <a:t>wvgs</a:t>
            </a:r>
            <a:endParaRPr lang="en-US" sz="2500" b="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627196"/>
            <a:ext cx="11199971" cy="2123658"/>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a:latin typeface="Arial" panose="020B0604020202020204" pitchFamily="34" charset="0"/>
                <a:cs typeface="Arial" panose="020B0604020202020204" pitchFamily="34" charset="0"/>
              </a:rPr>
              <a:t>Hints:</a:t>
            </a:r>
          </a:p>
          <a:p>
            <a:pPr algn="just"/>
            <a:r>
              <a:rPr lang="en-US" sz="1200">
                <a:latin typeface="Arial" panose="020B0604020202020204" pitchFamily="34" charset="0"/>
                <a:cs typeface="Arial" panose="020B0604020202020204" pitchFamily="34" charset="0"/>
              </a:rPr>
              <a:t>All waveguides running in parallel are coupled somehow. Controlling the degree of coupling is key for those waveguides you don’t want coupling over certain level (i.e. uncoupled waveguides). Uncoupled waveguide definition, we will use K&lt;0.01. Parallel waveguide length = 10 mm (typical length of a chip). Find minimum gap shallow / deep w=1.0µm </a:t>
            </a:r>
            <a:r>
              <a:rPr lang="en-US" sz="1200" err="1">
                <a:latin typeface="Arial" panose="020B0604020202020204" pitchFamily="34" charset="0"/>
                <a:cs typeface="Arial" panose="020B0604020202020204" pitchFamily="34" charset="0"/>
              </a:rPr>
              <a:t>wvl</a:t>
            </a:r>
            <a:r>
              <a:rPr lang="en-US" sz="1200">
                <a:latin typeface="Arial" panose="020B0604020202020204" pitchFamily="34" charset="0"/>
                <a:cs typeface="Arial" panose="020B0604020202020204" pitchFamily="34" charset="0"/>
              </a:rPr>
              <a:t> 1.55 µm.</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FB4B77A0-B37C-3130-FB52-4E560C66946F}"/>
              </a:ext>
            </a:extLst>
          </p:cNvPr>
          <p:cNvSpPr/>
          <p:nvPr/>
        </p:nvSpPr>
        <p:spPr>
          <a:xfrm>
            <a:off x="609441"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DA7ECAA3-0876-C0FB-D7E5-448FCC5ED226}"/>
              </a:ext>
            </a:extLst>
          </p:cNvPr>
          <p:cNvSpPr/>
          <p:nvPr/>
        </p:nvSpPr>
        <p:spPr>
          <a:xfrm>
            <a:off x="6321424"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C1467207-8D05-D4C6-EBD2-209F796AE977}"/>
                  </a:ext>
                </a:extLst>
              </p:cNvPr>
              <p:cNvSpPr txBox="1"/>
              <p:nvPr/>
            </p:nvSpPr>
            <p:spPr>
              <a:xfrm>
                <a:off x="1079403" y="2480496"/>
                <a:ext cx="4546634" cy="1477328"/>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a:t>
                </a:r>
                <a14:m>
                  <m:oMath xmlns:m="http://schemas.openxmlformats.org/officeDocument/2006/math">
                    <m:r>
                      <a:rPr lang="es-ES" b="0" i="1" smtClean="0">
                        <a:latin typeface="Cambria Math" panose="02040503050406030204" pitchFamily="18" charset="0"/>
                      </a:rPr>
                      <m:t>𝐾</m:t>
                    </m:r>
                  </m:oMath>
                </a14:m>
                <a:r>
                  <a:rPr lang="en-US"/>
                  <a:t> vs gap for 10 mm </a:t>
                </a:r>
                <a:r>
                  <a:rPr lang="en-US" err="1"/>
                  <a:t>wvgs</a:t>
                </a:r>
                <a:r>
                  <a:rPr lang="en-US"/>
                  <a:t> to be uncoupled</a:t>
                </a:r>
              </a:p>
              <a:p>
                <a:pPr algn="ctr"/>
                <a:endParaRPr lang="en-US"/>
              </a:p>
            </p:txBody>
          </p:sp>
        </mc:Choice>
        <mc:Fallback>
          <p:sp>
            <p:nvSpPr>
              <p:cNvPr id="9" name="CuadroTexto 8">
                <a:extLst>
                  <a:ext uri="{FF2B5EF4-FFF2-40B4-BE49-F238E27FC236}">
                    <a16:creationId xmlns:a16="http://schemas.microsoft.com/office/drawing/2014/main" id="{C1467207-8D05-D4C6-EBD2-209F796AE977}"/>
                  </a:ext>
                </a:extLst>
              </p:cNvPr>
              <p:cNvSpPr txBox="1">
                <a:spLocks noRot="1" noChangeAspect="1" noMove="1" noResize="1" noEditPoints="1" noAdjustHandles="1" noChangeArrowheads="1" noChangeShapeType="1" noTextEdit="1"/>
              </p:cNvSpPr>
              <p:nvPr/>
            </p:nvSpPr>
            <p:spPr>
              <a:xfrm>
                <a:off x="1079403" y="2480496"/>
                <a:ext cx="4546634" cy="1477328"/>
              </a:xfrm>
              <a:prstGeom prst="rect">
                <a:avLst/>
              </a:prstGeom>
              <a:blipFill>
                <a:blip r:embed="rId4"/>
                <a:stretch>
                  <a:fillRect t="-2479"/>
                </a:stretch>
              </a:blipFill>
            </p:spPr>
            <p:txBody>
              <a:bodyPr/>
              <a:lstStyle/>
              <a:p>
                <a:r>
                  <a:rPr lang="es-ES">
                    <a:noFill/>
                  </a:rPr>
                  <a:t> </a:t>
                </a:r>
              </a:p>
            </p:txBody>
          </p:sp>
        </mc:Fallback>
      </mc:AlternateContent>
      <mc:AlternateContent xmlns:mc="http://schemas.openxmlformats.org/markup-compatibility/2006">
        <mc:Choice xmlns:a14="http://schemas.microsoft.com/office/drawing/2010/main" Requires="a14">
          <p:sp>
            <p:nvSpPr>
              <p:cNvPr id="10" name="CuadroTexto 9">
                <a:extLst>
                  <a:ext uri="{FF2B5EF4-FFF2-40B4-BE49-F238E27FC236}">
                    <a16:creationId xmlns:a16="http://schemas.microsoft.com/office/drawing/2014/main" id="{32E39C0C-95E1-ED90-891A-5D634D9DB76B}"/>
                  </a:ext>
                </a:extLst>
              </p:cNvPr>
              <p:cNvSpPr txBox="1"/>
              <p:nvPr/>
            </p:nvSpPr>
            <p:spPr>
              <a:xfrm>
                <a:off x="6883366" y="2480496"/>
                <a:ext cx="4546634" cy="1477328"/>
              </a:xfrm>
              <a:prstGeom prst="rect">
                <a:avLst/>
              </a:prstGeom>
              <a:noFill/>
            </p:spPr>
            <p:txBody>
              <a:bodyPr wrap="square" rtlCol="0">
                <a:spAutoFit/>
              </a:bodyPr>
              <a:lstStyle/>
              <a:p>
                <a:pPr algn="ctr"/>
                <a:r>
                  <a:rPr lang="en-US" b="1"/>
                  <a:t>shallow</a:t>
                </a:r>
                <a:r>
                  <a:rPr lang="en-US"/>
                  <a:t> waveguide</a:t>
                </a:r>
              </a:p>
              <a:p>
                <a:pPr algn="ctr"/>
                <a:r>
                  <a:rPr lang="en-US" err="1"/>
                  <a:t>slab_thickness</a:t>
                </a:r>
                <a:r>
                  <a:rPr lang="en-US"/>
                  <a:t> = 150 nm</a:t>
                </a:r>
              </a:p>
              <a:p>
                <a:pPr algn="ctr"/>
                <a:endParaRPr lang="en-US"/>
              </a:p>
              <a:p>
                <a:pPr algn="ctr"/>
                <a:r>
                  <a:rPr lang="en-US"/>
                  <a:t>Paste </a:t>
                </a:r>
                <a14:m>
                  <m:oMath xmlns:m="http://schemas.openxmlformats.org/officeDocument/2006/math">
                    <m:r>
                      <a:rPr lang="es-ES" i="1">
                        <a:latin typeface="Cambria Math" panose="02040503050406030204" pitchFamily="18" charset="0"/>
                      </a:rPr>
                      <m:t>𝐾</m:t>
                    </m:r>
                  </m:oMath>
                </a14:m>
                <a:r>
                  <a:rPr lang="en-US"/>
                  <a:t> vs gap for 10 mm </a:t>
                </a:r>
                <a:r>
                  <a:rPr lang="en-US" err="1"/>
                  <a:t>wvgs</a:t>
                </a:r>
                <a:r>
                  <a:rPr lang="en-US"/>
                  <a:t> to be uncoupled</a:t>
                </a:r>
              </a:p>
            </p:txBody>
          </p:sp>
        </mc:Choice>
        <mc:Fallback>
          <p:sp>
            <p:nvSpPr>
              <p:cNvPr id="10" name="CuadroTexto 9">
                <a:extLst>
                  <a:ext uri="{FF2B5EF4-FFF2-40B4-BE49-F238E27FC236}">
                    <a16:creationId xmlns:a16="http://schemas.microsoft.com/office/drawing/2014/main" id="{32E39C0C-95E1-ED90-891A-5D634D9DB76B}"/>
                  </a:ext>
                </a:extLst>
              </p:cNvPr>
              <p:cNvSpPr txBox="1">
                <a:spLocks noRot="1" noChangeAspect="1" noMove="1" noResize="1" noEditPoints="1" noAdjustHandles="1" noChangeArrowheads="1" noChangeShapeType="1" noTextEdit="1"/>
              </p:cNvSpPr>
              <p:nvPr/>
            </p:nvSpPr>
            <p:spPr>
              <a:xfrm>
                <a:off x="6883366" y="2480496"/>
                <a:ext cx="4546634" cy="1477328"/>
              </a:xfrm>
              <a:prstGeom prst="rect">
                <a:avLst/>
              </a:prstGeom>
              <a:blipFill>
                <a:blip r:embed="rId5"/>
                <a:stretch>
                  <a:fillRect t="-2479" b="-5785"/>
                </a:stretch>
              </a:blipFill>
            </p:spPr>
            <p:txBody>
              <a:bodyPr/>
              <a:lstStyle/>
              <a:p>
                <a:r>
                  <a:rPr lang="es-ES">
                    <a:noFill/>
                  </a:rPr>
                  <a:t> </a:t>
                </a:r>
              </a:p>
            </p:txBody>
          </p:sp>
        </mc:Fallback>
      </mc:AlternateContent>
    </p:spTree>
    <p:extLst>
      <p:ext uri="{BB962C8B-B14F-4D97-AF65-F5344CB8AC3E}">
        <p14:creationId xmlns:p14="http://schemas.microsoft.com/office/powerpoint/2010/main" val="37123560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96A16F-486B-E9AB-E37D-6E78765C93B4}"/>
              </a:ext>
            </a:extLst>
          </p:cNvPr>
          <p:cNvSpPr>
            <a:spLocks noGrp="1"/>
          </p:cNvSpPr>
          <p:nvPr>
            <p:ph type="title"/>
          </p:nvPr>
        </p:nvSpPr>
        <p:spPr/>
        <p:txBody>
          <a:bodyPr wrap="square" lIns="0" tIns="0" rIns="0" bIns="0" anchor="t">
            <a:spAutoFit/>
          </a:bodyPr>
          <a:lstStyle/>
          <a:p>
            <a:r>
              <a:rPr lang="es-ES">
                <a:ea typeface="Calibri"/>
              </a:rPr>
              <a:t>Resultados apartado 4</a:t>
            </a:r>
            <a:endParaRPr lang="es-ES"/>
          </a:p>
        </p:txBody>
      </p:sp>
      <p:sp>
        <p:nvSpPr>
          <p:cNvPr id="3" name="Marcador de texto 2">
            <a:extLst>
              <a:ext uri="{FF2B5EF4-FFF2-40B4-BE49-F238E27FC236}">
                <a16:creationId xmlns:a16="http://schemas.microsoft.com/office/drawing/2014/main" id="{31B25DFC-1A1F-4D56-1855-6C4F2B7254A2}"/>
              </a:ext>
            </a:extLst>
          </p:cNvPr>
          <p:cNvSpPr>
            <a:spLocks noGrp="1"/>
          </p:cNvSpPr>
          <p:nvPr>
            <p:ph type="body" idx="1"/>
          </p:nvPr>
        </p:nvSpPr>
        <p:spPr>
          <a:xfrm>
            <a:off x="587513" y="871866"/>
            <a:ext cx="10972800" cy="830997"/>
          </a:xfrm>
        </p:spPr>
        <p:txBody>
          <a:bodyPr wrap="square" lIns="0" tIns="0" rIns="0" bIns="0" anchor="t">
            <a:spAutoFit/>
          </a:bodyPr>
          <a:lstStyle/>
          <a:p>
            <a:r>
              <a:rPr lang="es-ES"/>
              <a:t>En este apartado se buscaba obtener el valor mínimo que debía tener Lπ para obtener un valor de constante de acoplo K &lt; 0.001 ya que a partir de este valor las guías se considera no acopladas. Para ello se realizaron los </a:t>
            </a:r>
            <a:r>
              <a:rPr lang="es-ES" err="1"/>
              <a:t>calculos</a:t>
            </a:r>
            <a:r>
              <a:rPr lang="es-ES"/>
              <a:t> siguientes:</a:t>
            </a:r>
          </a:p>
        </p:txBody>
      </p:sp>
      <p:sp>
        <p:nvSpPr>
          <p:cNvPr id="4" name="Marcador de pie de página 3">
            <a:extLst>
              <a:ext uri="{FF2B5EF4-FFF2-40B4-BE49-F238E27FC236}">
                <a16:creationId xmlns:a16="http://schemas.microsoft.com/office/drawing/2014/main" id="{C9DA03EA-C276-136A-5FD3-BCDEBD943987}"/>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2E7F338A-46D2-D2C6-2981-4CC6DE96F731}"/>
              </a:ext>
            </a:extLst>
          </p:cNvPr>
          <p:cNvSpPr>
            <a:spLocks noGrp="1"/>
          </p:cNvSpPr>
          <p:nvPr>
            <p:ph type="sldNum" sz="quarter" idx="7"/>
          </p:nvPr>
        </p:nvSpPr>
        <p:spPr/>
        <p:txBody>
          <a:bodyPr/>
          <a:lstStyle/>
          <a:p>
            <a:fld id="{B6F15528-21DE-4FAA-801E-634DDDAF4B2B}" type="slidenum">
              <a:rPr lang="es-ES"/>
              <a:t>14</a:t>
            </a:fld>
            <a:endParaRPr lang="es-ES"/>
          </a:p>
        </p:txBody>
      </p:sp>
      <p:pic>
        <p:nvPicPr>
          <p:cNvPr id="6" name="Imagen 5" descr="Imagen que contiene Tabla&#10;&#10;El contenido generado por IA puede ser incorrecto.">
            <a:extLst>
              <a:ext uri="{FF2B5EF4-FFF2-40B4-BE49-F238E27FC236}">
                <a16:creationId xmlns:a16="http://schemas.microsoft.com/office/drawing/2014/main" id="{958D9FAD-40CA-0D57-94A6-3157160B5F90}"/>
              </a:ext>
            </a:extLst>
          </p:cNvPr>
          <p:cNvPicPr>
            <a:picLocks noChangeAspect="1"/>
          </p:cNvPicPr>
          <p:nvPr/>
        </p:nvPicPr>
        <p:blipFill>
          <a:blip r:embed="rId2"/>
          <a:stretch>
            <a:fillRect/>
          </a:stretch>
        </p:blipFill>
        <p:spPr>
          <a:xfrm>
            <a:off x="4657655" y="1592677"/>
            <a:ext cx="2843558" cy="4059169"/>
          </a:xfrm>
          <a:prstGeom prst="rect">
            <a:avLst/>
          </a:prstGeom>
        </p:spPr>
      </p:pic>
    </p:spTree>
    <p:extLst>
      <p:ext uri="{BB962C8B-B14F-4D97-AF65-F5344CB8AC3E}">
        <p14:creationId xmlns:p14="http://schemas.microsoft.com/office/powerpoint/2010/main" val="35812250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6B826D-E396-C684-BFF4-1BA57E17C196}"/>
              </a:ext>
            </a:extLst>
          </p:cNvPr>
          <p:cNvSpPr>
            <a:spLocks noGrp="1"/>
          </p:cNvSpPr>
          <p:nvPr>
            <p:ph type="title"/>
          </p:nvPr>
        </p:nvSpPr>
        <p:spPr/>
        <p:txBody>
          <a:bodyPr wrap="square" lIns="0" tIns="0" rIns="0" bIns="0" anchor="t">
            <a:spAutoFit/>
          </a:bodyPr>
          <a:lstStyle/>
          <a:p>
            <a:r>
              <a:rPr lang="es-ES">
                <a:ea typeface="Calibri"/>
              </a:rPr>
              <a:t>Resultados apartado 4</a:t>
            </a:r>
            <a:endParaRPr lang="es-ES"/>
          </a:p>
        </p:txBody>
      </p:sp>
      <p:sp>
        <p:nvSpPr>
          <p:cNvPr id="3" name="Marcador de texto 2">
            <a:extLst>
              <a:ext uri="{FF2B5EF4-FFF2-40B4-BE49-F238E27FC236}">
                <a16:creationId xmlns:a16="http://schemas.microsoft.com/office/drawing/2014/main" id="{1BA9AF94-23C2-A378-3E96-E333CD991FB1}"/>
              </a:ext>
            </a:extLst>
          </p:cNvPr>
          <p:cNvSpPr>
            <a:spLocks noGrp="1"/>
          </p:cNvSpPr>
          <p:nvPr>
            <p:ph type="body" idx="1"/>
          </p:nvPr>
        </p:nvSpPr>
        <p:spPr>
          <a:xfrm>
            <a:off x="587513" y="993345"/>
            <a:ext cx="10972800" cy="1661993"/>
          </a:xfrm>
        </p:spPr>
        <p:txBody>
          <a:bodyPr wrap="square" lIns="0" tIns="0" rIns="0" bIns="0" anchor="t">
            <a:spAutoFit/>
          </a:bodyPr>
          <a:lstStyle/>
          <a:p>
            <a:r>
              <a:rPr lang="es-ES"/>
              <a:t>Una vez obtenido el valor de Lπ hemos ido cambiando el valor de gap es decir la distancia de separación de los núcleos de las guías de ondas tanto en el caso de guías </a:t>
            </a:r>
            <a:r>
              <a:rPr lang="es-ES" err="1"/>
              <a:t>deep</a:t>
            </a:r>
            <a:r>
              <a:rPr lang="es-ES"/>
              <a:t> como </a:t>
            </a:r>
            <a:r>
              <a:rPr lang="es-ES" err="1"/>
              <a:t>shallow</a:t>
            </a:r>
            <a:r>
              <a:rPr lang="es-ES"/>
              <a:t>. Los resultados obtenidos son los siguientes, confirmándose los valores obtenidos a través de las fórmulas. Para la guía </a:t>
            </a:r>
            <a:r>
              <a:rPr lang="es-ES" err="1"/>
              <a:t>deep</a:t>
            </a:r>
            <a:r>
              <a:rPr lang="es-ES"/>
              <a:t> hizo falta un gap de </a:t>
            </a:r>
            <a:r>
              <a:rPr lang="es-ES">
                <a:solidFill>
                  <a:srgbClr val="000000"/>
                </a:solidFill>
                <a:latin typeface="Calibri"/>
                <a:ea typeface="Calibri"/>
                <a:cs typeface="Calibri"/>
              </a:rPr>
              <a:t>3835.5nm y para la </a:t>
            </a:r>
            <a:r>
              <a:rPr lang="es-ES" err="1">
                <a:solidFill>
                  <a:srgbClr val="000000"/>
                </a:solidFill>
                <a:latin typeface="Calibri"/>
                <a:ea typeface="Calibri"/>
                <a:cs typeface="Calibri"/>
              </a:rPr>
              <a:t>shallow</a:t>
            </a:r>
            <a:r>
              <a:rPr lang="es-ES">
                <a:solidFill>
                  <a:srgbClr val="000000"/>
                </a:solidFill>
                <a:latin typeface="Calibri"/>
                <a:ea typeface="Calibri"/>
                <a:cs typeface="Calibri"/>
              </a:rPr>
              <a:t> hizo falta un gap de 4925nm. </a:t>
            </a:r>
            <a:endParaRPr lang="es-ES">
              <a:solidFill>
                <a:srgbClr val="000000"/>
              </a:solidFill>
              <a:latin typeface="Calibri"/>
            </a:endParaRPr>
          </a:p>
          <a:p>
            <a:endParaRPr lang="es-ES">
              <a:solidFill>
                <a:srgbClr val="000000"/>
              </a:solidFill>
              <a:latin typeface="Calibri"/>
              <a:ea typeface="Calibri"/>
              <a:cs typeface="Calibri"/>
            </a:endParaRPr>
          </a:p>
          <a:p>
            <a:endParaRPr lang="es-ES">
              <a:solidFill>
                <a:srgbClr val="000000"/>
              </a:solidFill>
              <a:latin typeface="Calibri"/>
              <a:ea typeface="Calibri"/>
              <a:cs typeface="Calibri"/>
            </a:endParaRPr>
          </a:p>
        </p:txBody>
      </p:sp>
      <p:sp>
        <p:nvSpPr>
          <p:cNvPr id="4" name="Marcador de pie de página 3">
            <a:extLst>
              <a:ext uri="{FF2B5EF4-FFF2-40B4-BE49-F238E27FC236}">
                <a16:creationId xmlns:a16="http://schemas.microsoft.com/office/drawing/2014/main" id="{C177F7B7-EADA-09C0-C04D-D3C7F462B859}"/>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F3451135-94EB-CCDE-5476-C0D1C0687DFB}"/>
              </a:ext>
            </a:extLst>
          </p:cNvPr>
          <p:cNvSpPr>
            <a:spLocks noGrp="1"/>
          </p:cNvSpPr>
          <p:nvPr>
            <p:ph type="sldNum" sz="quarter" idx="7"/>
          </p:nvPr>
        </p:nvSpPr>
        <p:spPr/>
        <p:txBody>
          <a:bodyPr/>
          <a:lstStyle/>
          <a:p>
            <a:fld id="{B6F15528-21DE-4FAA-801E-634DDDAF4B2B}" type="slidenum">
              <a:rPr lang="es-ES"/>
              <a:t>15</a:t>
            </a:fld>
            <a:endParaRPr lang="es-ES"/>
          </a:p>
        </p:txBody>
      </p:sp>
      <p:pic>
        <p:nvPicPr>
          <p:cNvPr id="6" name="Imagen 5" descr="Texto&#10;&#10;El contenido generado por IA puede ser incorrecto.">
            <a:extLst>
              <a:ext uri="{FF2B5EF4-FFF2-40B4-BE49-F238E27FC236}">
                <a16:creationId xmlns:a16="http://schemas.microsoft.com/office/drawing/2014/main" id="{CD37B6BC-B7E4-F9BC-CA97-D21BD3044816}"/>
              </a:ext>
            </a:extLst>
          </p:cNvPr>
          <p:cNvPicPr>
            <a:picLocks noChangeAspect="1"/>
          </p:cNvPicPr>
          <p:nvPr/>
        </p:nvPicPr>
        <p:blipFill>
          <a:blip r:embed="rId2"/>
          <a:stretch>
            <a:fillRect/>
          </a:stretch>
        </p:blipFill>
        <p:spPr>
          <a:xfrm>
            <a:off x="6758815" y="3551651"/>
            <a:ext cx="4505325" cy="638175"/>
          </a:xfrm>
          <a:prstGeom prst="rect">
            <a:avLst/>
          </a:prstGeom>
        </p:spPr>
      </p:pic>
      <p:pic>
        <p:nvPicPr>
          <p:cNvPr id="7" name="Imagen 6" descr="Interfaz de usuario gráfica, Texto, Aplicación&#10;&#10;El contenido generado por IA puede ser incorrecto.">
            <a:extLst>
              <a:ext uri="{FF2B5EF4-FFF2-40B4-BE49-F238E27FC236}">
                <a16:creationId xmlns:a16="http://schemas.microsoft.com/office/drawing/2014/main" id="{00690376-608D-89CE-0EDD-A9FC253FC0BB}"/>
              </a:ext>
            </a:extLst>
          </p:cNvPr>
          <p:cNvPicPr>
            <a:picLocks noChangeAspect="1"/>
          </p:cNvPicPr>
          <p:nvPr/>
        </p:nvPicPr>
        <p:blipFill>
          <a:blip r:embed="rId3"/>
          <a:stretch>
            <a:fillRect/>
          </a:stretch>
        </p:blipFill>
        <p:spPr>
          <a:xfrm>
            <a:off x="1265445" y="3524802"/>
            <a:ext cx="4514850" cy="647700"/>
          </a:xfrm>
          <a:prstGeom prst="rect">
            <a:avLst/>
          </a:prstGeom>
        </p:spPr>
      </p:pic>
    </p:spTree>
    <p:extLst>
      <p:ext uri="{BB962C8B-B14F-4D97-AF65-F5344CB8AC3E}">
        <p14:creationId xmlns:p14="http://schemas.microsoft.com/office/powerpoint/2010/main" val="7850795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D4982-2E99-3EE0-CEBE-CEF54821C335}"/>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60D29C4-F13C-8947-EF1D-2CBDDD14AC5C}"/>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28A4EFD1-1AF6-F17D-1B27-5115800F99B0}"/>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6" name="Título 4">
            <a:extLst>
              <a:ext uri="{FF2B5EF4-FFF2-40B4-BE49-F238E27FC236}">
                <a16:creationId xmlns:a16="http://schemas.microsoft.com/office/drawing/2014/main" id="{8111062F-F9A0-241E-6CCB-6E8BE4D8C60A}"/>
              </a:ext>
            </a:extLst>
          </p:cNvPr>
          <p:cNvSpPr>
            <a:spLocks noGrp="1"/>
          </p:cNvSpPr>
          <p:nvPr>
            <p:ph type="body" idx="1"/>
          </p:nvPr>
        </p:nvSpPr>
        <p:spPr>
          <a:xfrm>
            <a:off x="609600" y="2152650"/>
            <a:ext cx="10972800" cy="430887"/>
          </a:xfrm>
        </p:spPr>
        <p:txBody>
          <a:bodyPr/>
          <a:lstStyle/>
          <a:p>
            <a:pPr algn="ctr"/>
            <a:r>
              <a:rPr lang="en-US" sz="2800" b="1">
                <a:effectLst>
                  <a:outerShdw blurRad="38100" dist="38100" dir="2700000" algn="tl">
                    <a:srgbClr val="000000">
                      <a:alpha val="43137"/>
                    </a:srgbClr>
                  </a:outerShdw>
                </a:effectLst>
              </a:rPr>
              <a:t>Multimode Interferometer (MMI) Coupler</a:t>
            </a:r>
          </a:p>
        </p:txBody>
      </p:sp>
    </p:spTree>
    <p:extLst>
      <p:ext uri="{BB962C8B-B14F-4D97-AF65-F5344CB8AC3E}">
        <p14:creationId xmlns:p14="http://schemas.microsoft.com/office/powerpoint/2010/main" val="38733189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#5 – Multimode Interference (MMI) Coupler cross-section</a:t>
            </a:r>
            <a:endParaRPr lang="en-US" sz="2500" b="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2.0. COUPLERS</a:t>
            </a:r>
          </a:p>
        </p:txBody>
      </p:sp>
      <mc:AlternateContent xmlns:mc="http://schemas.openxmlformats.org/markup-compatibility/2006">
        <mc:Choice xmlns:a14="http://schemas.microsoft.com/office/drawing/2010/main" Requires="a14">
          <p:sp>
            <p:nvSpPr>
              <p:cNvPr id="4" name="Marcador de texto 2">
                <a:extLst>
                  <a:ext uri="{FF2B5EF4-FFF2-40B4-BE49-F238E27FC236}">
                    <a16:creationId xmlns:a16="http://schemas.microsoft.com/office/drawing/2014/main" id="{D838A93A-BFC8-0124-93CE-FDC193435A0C}"/>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a:t>INSTRUCTOR:</a:t>
                </a:r>
              </a:p>
              <a:p>
                <a:pPr marL="342900" indent="-342900" algn="just">
                  <a:buFont typeface="Arial" panose="020B0604020202020204" pitchFamily="34" charset="0"/>
                  <a:buChar char="•"/>
                </a:pPr>
                <a:r>
                  <a:rPr lang="en-US" sz="2000"/>
                  <a:t>Present Python and </a:t>
                </a:r>
                <a:r>
                  <a:rPr lang="en-US" sz="2000" err="1"/>
                  <a:t>GDSFactory</a:t>
                </a:r>
                <a:r>
                  <a:rPr lang="en-US" sz="2000"/>
                  <a:t> implementation of DC cross-section</a:t>
                </a:r>
              </a:p>
              <a:p>
                <a:pPr marL="342900" indent="-342900" algn="just">
                  <a:buFont typeface="Arial" panose="020B0604020202020204" pitchFamily="34" charset="0"/>
                  <a:buChar char="•"/>
                </a:pPr>
                <a:r>
                  <a:rPr lang="en-US" sz="2000"/>
                  <a:t>Describe how to obtain the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a:p>
              <a:p>
                <a:pPr marL="342900" indent="-342900" algn="just">
                  <a:buFont typeface="Arial" panose="020B0604020202020204" pitchFamily="34" charset="0"/>
                  <a:buChar char="•"/>
                </a:pPr>
                <a:r>
                  <a:rPr lang="en-US" sz="2000"/>
                  <a:t>Describe the outputs.</a:t>
                </a:r>
              </a:p>
              <a:p>
                <a:pPr marL="0" indent="0" algn="just">
                  <a:buNone/>
                </a:pPr>
                <a:r>
                  <a:rPr lang="en-US" sz="2000" b="1"/>
                  <a:t>ALL EXAMPLE #2: </a:t>
                </a:r>
                <a:r>
                  <a:rPr lang="en-US" sz="2000"/>
                  <a:t>waveguide width 12 µm, gap between waveguides 0.6 µm, deep </a:t>
                </a:r>
                <a:r>
                  <a:rPr lang="en-US" sz="2000" err="1"/>
                  <a:t>wvg</a:t>
                </a:r>
                <a:r>
                  <a:rPr lang="en-US" sz="2000"/>
                  <a:t>, wavelength start and end same 1.55 µm </a:t>
                </a:r>
                <a:r>
                  <a:rPr lang="en-US" sz="2000">
                    <a:sym typeface="Wingdings" pitchFamily="2" charset="2"/>
                  </a:rPr>
                  <a:t> all ”Run”</a:t>
                </a:r>
                <a:endParaRPr lang="en-US" sz="2000"/>
              </a:p>
              <a:p>
                <a:pPr marL="0" indent="0" algn="just">
                  <a:buNone/>
                </a:pPr>
                <a:r>
                  <a:rPr lang="en-US" sz="2000" b="1"/>
                  <a:t>ALL: </a:t>
                </a:r>
                <a:r>
                  <a:rPr lang="en-US" sz="2000"/>
                  <a:t>Follow</a:t>
                </a:r>
                <a:r>
                  <a:rPr lang="en-US" sz="2000" b="1"/>
                  <a:t> </a:t>
                </a:r>
                <a:r>
                  <a:rPr lang="en-US" sz="2000"/>
                  <a:t>instructor, that will show how to 1) plot mode, 2) explore the results (neff …)</a:t>
                </a:r>
              </a:p>
              <a:p>
                <a:pPr algn="just"/>
                <a:endParaRPr lang="en-US" sz="2000" b="1" i="1" u="sng"/>
              </a:p>
              <a:p>
                <a:pPr algn="just"/>
                <a:endParaRPr lang="en-US" sz="2000" kern="0">
                  <a:solidFill>
                    <a:sysClr val="windowText" lastClr="000000"/>
                  </a:solidFill>
                </a:endParaRPr>
              </a:p>
            </p:txBody>
          </p:sp>
        </mc:Choice>
        <mc:Fallback>
          <p:sp>
            <p:nvSpPr>
              <p:cNvPr id="4" name="Marcador de texto 2">
                <a:extLst>
                  <a:ext uri="{FF2B5EF4-FFF2-40B4-BE49-F238E27FC236}">
                    <a16:creationId xmlns:a16="http://schemas.microsoft.com/office/drawing/2014/main" id="{D838A93A-BFC8-0124-93CE-FDC193435A0C}"/>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4"/>
                <a:stretch>
                  <a:fillRect l="-607" t="-738" r="-552"/>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Document all your results (neff, plot fields of different modes, comparison between different polarizations…)</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24515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161125-671C-F5A8-4D18-04C225588BA4}"/>
              </a:ext>
            </a:extLst>
          </p:cNvPr>
          <p:cNvSpPr>
            <a:spLocks noGrp="1"/>
          </p:cNvSpPr>
          <p:nvPr>
            <p:ph type="title"/>
          </p:nvPr>
        </p:nvSpPr>
        <p:spPr/>
        <p:txBody>
          <a:bodyPr wrap="square" lIns="0" tIns="0" rIns="0" bIns="0" anchor="t">
            <a:spAutoFit/>
          </a:bodyPr>
          <a:lstStyle/>
          <a:p>
            <a:r>
              <a:rPr lang="es-ES">
                <a:ea typeface="Calibri"/>
              </a:rPr>
              <a:t>Resultados apartado 5</a:t>
            </a:r>
            <a:endParaRPr lang="es-ES"/>
          </a:p>
        </p:txBody>
      </p:sp>
      <p:sp>
        <p:nvSpPr>
          <p:cNvPr id="3" name="Marcador de texto 2">
            <a:extLst>
              <a:ext uri="{FF2B5EF4-FFF2-40B4-BE49-F238E27FC236}">
                <a16:creationId xmlns:a16="http://schemas.microsoft.com/office/drawing/2014/main" id="{70228DDB-4688-A88B-F971-1B1EAFA2F93C}"/>
              </a:ext>
            </a:extLst>
          </p:cNvPr>
          <p:cNvSpPr>
            <a:spLocks noGrp="1"/>
          </p:cNvSpPr>
          <p:nvPr>
            <p:ph type="body" idx="1"/>
          </p:nvPr>
        </p:nvSpPr>
        <p:spPr>
          <a:xfrm>
            <a:off x="587513" y="927084"/>
            <a:ext cx="10972800" cy="1938992"/>
          </a:xfrm>
        </p:spPr>
        <p:txBody>
          <a:bodyPr wrap="square" lIns="0" tIns="0" rIns="0" bIns="0" anchor="t">
            <a:spAutoFit/>
          </a:bodyPr>
          <a:lstStyle/>
          <a:p>
            <a:r>
              <a:rPr lang="es-ES"/>
              <a:t>Los siguientes resul</a:t>
            </a:r>
            <a:r>
              <a:rPr lang="es-ES">
                <a:solidFill>
                  <a:srgbClr val="000000"/>
                </a:solidFill>
                <a:latin typeface="Calibri"/>
                <a:ea typeface="Calibri"/>
                <a:cs typeface="Calibri"/>
              </a:rPr>
              <a:t>tados</a:t>
            </a:r>
            <a:r>
              <a:rPr lang="es-ES"/>
              <a:t> muestran los valores de los distintos modos que conforman el MMI, se puede apreciar como casi todos se transmiten de forma correcta ya que tienen la parte real del índice efectivo valores mayores a 1.5 lo que indica que se confinan correctamente dentro de la guía. En la siguiente imagen se pueden apreciar los distintos valores del campo eléctrico, se puede apreciar que hay bastantes modos TE ya que tienen valores en torno a 0.99, asimismo hay un menor número de modos TM que se distinguen por tener valores mucho menores a 0.99, esto se debe a las dimensiones del MMI ya que este tiene más superficie en el eje X que en el eje en el que se propagan los modos TE que en el eje Y que es el eje en el que se propagan los modos TM.</a:t>
            </a:r>
            <a:endParaRPr lang="es-ES">
              <a:solidFill>
                <a:srgbClr val="000000"/>
              </a:solidFill>
              <a:latin typeface="Calibri"/>
              <a:ea typeface="Calibri"/>
              <a:cs typeface="Calibri"/>
            </a:endParaRPr>
          </a:p>
        </p:txBody>
      </p:sp>
      <p:sp>
        <p:nvSpPr>
          <p:cNvPr id="4" name="Marcador de pie de página 3">
            <a:extLst>
              <a:ext uri="{FF2B5EF4-FFF2-40B4-BE49-F238E27FC236}">
                <a16:creationId xmlns:a16="http://schemas.microsoft.com/office/drawing/2014/main" id="{A0D7941F-8249-78EB-63C7-2CC8E0A40CEB}"/>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C57E96FC-90E4-24F2-02A1-BB14738C4E2E}"/>
              </a:ext>
            </a:extLst>
          </p:cNvPr>
          <p:cNvSpPr>
            <a:spLocks noGrp="1"/>
          </p:cNvSpPr>
          <p:nvPr>
            <p:ph type="sldNum" sz="quarter" idx="7"/>
          </p:nvPr>
        </p:nvSpPr>
        <p:spPr/>
        <p:txBody>
          <a:bodyPr/>
          <a:lstStyle/>
          <a:p>
            <a:fld id="{B6F15528-21DE-4FAA-801E-634DDDAF4B2B}" type="slidenum">
              <a:rPr lang="es-ES"/>
              <a:t>18</a:t>
            </a:fld>
            <a:endParaRPr lang="es-ES"/>
          </a:p>
        </p:txBody>
      </p:sp>
      <p:pic>
        <p:nvPicPr>
          <p:cNvPr id="6" name="Imagen 5" descr="Texto&#10;&#10;El contenido generado por IA puede ser incorrecto.">
            <a:extLst>
              <a:ext uri="{FF2B5EF4-FFF2-40B4-BE49-F238E27FC236}">
                <a16:creationId xmlns:a16="http://schemas.microsoft.com/office/drawing/2014/main" id="{48BFAC32-1C65-DAC6-F9EF-30381ED701AD}"/>
              </a:ext>
            </a:extLst>
          </p:cNvPr>
          <p:cNvPicPr>
            <a:picLocks noChangeAspect="1"/>
          </p:cNvPicPr>
          <p:nvPr/>
        </p:nvPicPr>
        <p:blipFill>
          <a:blip r:embed="rId2"/>
          <a:stretch>
            <a:fillRect/>
          </a:stretch>
        </p:blipFill>
        <p:spPr>
          <a:xfrm>
            <a:off x="3172653" y="2873857"/>
            <a:ext cx="5802520" cy="2347154"/>
          </a:xfrm>
          <a:prstGeom prst="rect">
            <a:avLst/>
          </a:prstGeom>
        </p:spPr>
      </p:pic>
      <p:pic>
        <p:nvPicPr>
          <p:cNvPr id="7" name="Imagen 6" descr="Texto&#10;&#10;El contenido generado por IA puede ser incorrecto.">
            <a:extLst>
              <a:ext uri="{FF2B5EF4-FFF2-40B4-BE49-F238E27FC236}">
                <a16:creationId xmlns:a16="http://schemas.microsoft.com/office/drawing/2014/main" id="{80198A40-1A30-B4A3-6E30-F0121A936339}"/>
              </a:ext>
            </a:extLst>
          </p:cNvPr>
          <p:cNvPicPr>
            <a:picLocks noChangeAspect="1"/>
          </p:cNvPicPr>
          <p:nvPr/>
        </p:nvPicPr>
        <p:blipFill>
          <a:blip r:embed="rId3"/>
          <a:stretch>
            <a:fillRect/>
          </a:stretch>
        </p:blipFill>
        <p:spPr>
          <a:xfrm>
            <a:off x="3169960" y="5238888"/>
            <a:ext cx="5807907" cy="1305615"/>
          </a:xfrm>
          <a:prstGeom prst="rect">
            <a:avLst/>
          </a:prstGeom>
        </p:spPr>
      </p:pic>
    </p:spTree>
    <p:extLst>
      <p:ext uri="{BB962C8B-B14F-4D97-AF65-F5344CB8AC3E}">
        <p14:creationId xmlns:p14="http://schemas.microsoft.com/office/powerpoint/2010/main" val="37575832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B12E01-79DA-E7FA-2431-189A3EF2891E}"/>
              </a:ext>
            </a:extLst>
          </p:cNvPr>
          <p:cNvSpPr>
            <a:spLocks noGrp="1"/>
          </p:cNvSpPr>
          <p:nvPr>
            <p:ph type="title"/>
          </p:nvPr>
        </p:nvSpPr>
        <p:spPr/>
        <p:txBody>
          <a:bodyPr wrap="square" lIns="0" tIns="0" rIns="0" bIns="0" anchor="t">
            <a:spAutoFit/>
          </a:bodyPr>
          <a:lstStyle/>
          <a:p>
            <a:r>
              <a:rPr lang="es-ES">
                <a:ea typeface="Calibri"/>
              </a:rPr>
              <a:t>Resultados apartado 5</a:t>
            </a:r>
            <a:endParaRPr lang="es-ES"/>
          </a:p>
        </p:txBody>
      </p:sp>
      <p:sp>
        <p:nvSpPr>
          <p:cNvPr id="3" name="Marcador de texto 2">
            <a:extLst>
              <a:ext uri="{FF2B5EF4-FFF2-40B4-BE49-F238E27FC236}">
                <a16:creationId xmlns:a16="http://schemas.microsoft.com/office/drawing/2014/main" id="{C8CFA268-8649-DD79-A1F7-535530AF4618}"/>
              </a:ext>
            </a:extLst>
          </p:cNvPr>
          <p:cNvSpPr>
            <a:spLocks noGrp="1"/>
          </p:cNvSpPr>
          <p:nvPr>
            <p:ph type="body" idx="1"/>
          </p:nvPr>
        </p:nvSpPr>
        <p:spPr>
          <a:xfrm>
            <a:off x="587513" y="904997"/>
            <a:ext cx="10972800" cy="1107996"/>
          </a:xfrm>
        </p:spPr>
        <p:txBody>
          <a:bodyPr wrap="square" lIns="0" tIns="0" rIns="0" bIns="0" anchor="t">
            <a:spAutoFit/>
          </a:bodyPr>
          <a:lstStyle/>
          <a:p>
            <a:r>
              <a:rPr lang="es-ES"/>
              <a:t>En las siguientes imágenes se puede ver cómo se transmiten distintos modos en el MMI, se puede apreciar como todos son modos TE ya que se propagan </a:t>
            </a:r>
            <a:r>
              <a:rPr lang="es-ES">
                <a:ea typeface="+mn-lt"/>
                <a:cs typeface="+mn-lt"/>
              </a:rPr>
              <a:t>transversalmente </a:t>
            </a:r>
            <a:r>
              <a:rPr lang="es-ES"/>
              <a:t>en el eje X. El primer modo que se ve es el modo 0 por lo que solo se transmite en una dirección, mientras que los otros dos modos son impares y por lo tanto parte de la señal se transmite en direcciones contrarias.</a:t>
            </a:r>
            <a:endParaRPr lang="es-ES">
              <a:solidFill>
                <a:srgbClr val="000000"/>
              </a:solidFill>
              <a:latin typeface="Calibri"/>
              <a:ea typeface="Calibri"/>
              <a:cs typeface="Calibri"/>
            </a:endParaRPr>
          </a:p>
        </p:txBody>
      </p:sp>
      <p:sp>
        <p:nvSpPr>
          <p:cNvPr id="4" name="Marcador de pie de página 3">
            <a:extLst>
              <a:ext uri="{FF2B5EF4-FFF2-40B4-BE49-F238E27FC236}">
                <a16:creationId xmlns:a16="http://schemas.microsoft.com/office/drawing/2014/main" id="{75B61216-CBFB-1F42-75C8-B63A0334D7D3}"/>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B2C446C0-1213-CD44-5C45-17C5705C7161}"/>
              </a:ext>
            </a:extLst>
          </p:cNvPr>
          <p:cNvSpPr>
            <a:spLocks noGrp="1"/>
          </p:cNvSpPr>
          <p:nvPr>
            <p:ph type="sldNum" sz="quarter" idx="7"/>
          </p:nvPr>
        </p:nvSpPr>
        <p:spPr/>
        <p:txBody>
          <a:bodyPr/>
          <a:lstStyle/>
          <a:p>
            <a:fld id="{B6F15528-21DE-4FAA-801E-634DDDAF4B2B}" type="slidenum">
              <a:rPr lang="es-ES"/>
              <a:t>19</a:t>
            </a:fld>
            <a:endParaRPr lang="es-ES"/>
          </a:p>
        </p:txBody>
      </p:sp>
      <p:pic>
        <p:nvPicPr>
          <p:cNvPr id="6" name="Imagen 5" descr="Interfaz de usuario gráfica, Aplicación&#10;&#10;El contenido generado por IA puede ser incorrecto.">
            <a:extLst>
              <a:ext uri="{FF2B5EF4-FFF2-40B4-BE49-F238E27FC236}">
                <a16:creationId xmlns:a16="http://schemas.microsoft.com/office/drawing/2014/main" id="{AA1FE868-E3E6-CE14-405A-BBA8D2D2FD90}"/>
              </a:ext>
            </a:extLst>
          </p:cNvPr>
          <p:cNvPicPr>
            <a:picLocks noChangeAspect="1"/>
          </p:cNvPicPr>
          <p:nvPr/>
        </p:nvPicPr>
        <p:blipFill>
          <a:blip r:embed="rId2"/>
          <a:stretch>
            <a:fillRect/>
          </a:stretch>
        </p:blipFill>
        <p:spPr>
          <a:xfrm>
            <a:off x="304938" y="3334164"/>
            <a:ext cx="3873776" cy="2773846"/>
          </a:xfrm>
          <a:prstGeom prst="rect">
            <a:avLst/>
          </a:prstGeom>
        </p:spPr>
      </p:pic>
      <p:pic>
        <p:nvPicPr>
          <p:cNvPr id="7" name="Imagen 6">
            <a:extLst>
              <a:ext uri="{FF2B5EF4-FFF2-40B4-BE49-F238E27FC236}">
                <a16:creationId xmlns:a16="http://schemas.microsoft.com/office/drawing/2014/main" id="{004D6E15-1D4E-24E0-E236-6DFF3AC576F0}"/>
              </a:ext>
            </a:extLst>
          </p:cNvPr>
          <p:cNvPicPr>
            <a:picLocks noChangeAspect="1"/>
          </p:cNvPicPr>
          <p:nvPr/>
        </p:nvPicPr>
        <p:blipFill>
          <a:blip r:embed="rId3"/>
          <a:stretch>
            <a:fillRect/>
          </a:stretch>
        </p:blipFill>
        <p:spPr>
          <a:xfrm>
            <a:off x="4172987" y="3332645"/>
            <a:ext cx="4000638" cy="2776883"/>
          </a:xfrm>
          <a:prstGeom prst="rect">
            <a:avLst/>
          </a:prstGeom>
        </p:spPr>
      </p:pic>
      <p:pic>
        <p:nvPicPr>
          <p:cNvPr id="8" name="Imagen 7" descr="Interfaz de usuario gráfica, Gráfico, Aplicación&#10;&#10;El contenido generado por IA puede ser incorrecto.">
            <a:extLst>
              <a:ext uri="{FF2B5EF4-FFF2-40B4-BE49-F238E27FC236}">
                <a16:creationId xmlns:a16="http://schemas.microsoft.com/office/drawing/2014/main" id="{E4DF1E6A-A7CA-1D22-1158-693C15086378}"/>
              </a:ext>
            </a:extLst>
          </p:cNvPr>
          <p:cNvPicPr>
            <a:picLocks noChangeAspect="1"/>
          </p:cNvPicPr>
          <p:nvPr/>
        </p:nvPicPr>
        <p:blipFill>
          <a:blip r:embed="rId4"/>
          <a:stretch>
            <a:fillRect/>
          </a:stretch>
        </p:blipFill>
        <p:spPr>
          <a:xfrm>
            <a:off x="8200611" y="3331127"/>
            <a:ext cx="3996084" cy="2779921"/>
          </a:xfrm>
          <a:prstGeom prst="rect">
            <a:avLst/>
          </a:prstGeom>
        </p:spPr>
      </p:pic>
    </p:spTree>
    <p:extLst>
      <p:ext uri="{BB962C8B-B14F-4D97-AF65-F5344CB8AC3E}">
        <p14:creationId xmlns:p14="http://schemas.microsoft.com/office/powerpoint/2010/main" val="20090674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60065C-09A1-366E-51E3-4EECF5F8C335}"/>
              </a:ext>
            </a:extLst>
          </p:cNvPr>
          <p:cNvSpPr>
            <a:spLocks noGrp="1"/>
          </p:cNvSpPr>
          <p:nvPr>
            <p:ph type="title"/>
          </p:nvPr>
        </p:nvSpPr>
        <p:spPr/>
        <p:txBody>
          <a:bodyPr wrap="square" lIns="0" tIns="0" rIns="0" bIns="0" anchor="t">
            <a:spAutoFit/>
          </a:bodyPr>
          <a:lstStyle/>
          <a:p>
            <a:r>
              <a:rPr lang="es-ES">
                <a:ea typeface="Calibri"/>
              </a:rPr>
              <a:t>Resultados apartado 5</a:t>
            </a:r>
            <a:endParaRPr lang="es-ES"/>
          </a:p>
        </p:txBody>
      </p:sp>
      <p:sp>
        <p:nvSpPr>
          <p:cNvPr id="3" name="Marcador de texto 2">
            <a:extLst>
              <a:ext uri="{FF2B5EF4-FFF2-40B4-BE49-F238E27FC236}">
                <a16:creationId xmlns:a16="http://schemas.microsoft.com/office/drawing/2014/main" id="{CB0D7F7B-D0F6-849F-CFDB-E88FEEC3FEDC}"/>
              </a:ext>
            </a:extLst>
          </p:cNvPr>
          <p:cNvSpPr>
            <a:spLocks noGrp="1"/>
          </p:cNvSpPr>
          <p:nvPr>
            <p:ph type="body" idx="1"/>
          </p:nvPr>
        </p:nvSpPr>
        <p:spPr>
          <a:xfrm>
            <a:off x="565426" y="794562"/>
            <a:ext cx="10972800" cy="830997"/>
          </a:xfrm>
        </p:spPr>
        <p:txBody>
          <a:bodyPr wrap="square" lIns="0" tIns="0" rIns="0" bIns="0" anchor="t">
            <a:spAutoFit/>
          </a:bodyPr>
          <a:lstStyle/>
          <a:p>
            <a:r>
              <a:rPr lang="es-ES"/>
              <a:t>En esta parte del código se calcula la longitud de batido del MMI, que nos indica a que distancia del origen se va a recrear la imagen que hay a la entrada del MMI, en este caso la distancia es de 219 micrómetros aproximadamente. La fórmula usada para obtener el valor es:</a:t>
            </a:r>
            <a:endParaRPr lang="es-ES">
              <a:solidFill>
                <a:srgbClr val="000000"/>
              </a:solidFill>
              <a:latin typeface="Calibri"/>
              <a:ea typeface="Calibri"/>
              <a:cs typeface="Calibri"/>
            </a:endParaRPr>
          </a:p>
        </p:txBody>
      </p:sp>
      <p:sp>
        <p:nvSpPr>
          <p:cNvPr id="4" name="Marcador de pie de página 3">
            <a:extLst>
              <a:ext uri="{FF2B5EF4-FFF2-40B4-BE49-F238E27FC236}">
                <a16:creationId xmlns:a16="http://schemas.microsoft.com/office/drawing/2014/main" id="{1C9A52E9-ECA3-5AFE-A0B2-92DF4F30F2D5}"/>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C47B9D33-496E-FA6D-824D-2A37796CECAE}"/>
              </a:ext>
            </a:extLst>
          </p:cNvPr>
          <p:cNvSpPr>
            <a:spLocks noGrp="1"/>
          </p:cNvSpPr>
          <p:nvPr>
            <p:ph type="sldNum" sz="quarter" idx="7"/>
          </p:nvPr>
        </p:nvSpPr>
        <p:spPr/>
        <p:txBody>
          <a:bodyPr/>
          <a:lstStyle/>
          <a:p>
            <a:fld id="{B6F15528-21DE-4FAA-801E-634DDDAF4B2B}" type="slidenum">
              <a:rPr lang="es-ES"/>
              <a:t>20</a:t>
            </a:fld>
            <a:endParaRPr lang="es-ES"/>
          </a:p>
        </p:txBody>
      </p:sp>
      <p:pic>
        <p:nvPicPr>
          <p:cNvPr id="6" name="Imagen 5" descr="Interfaz de usuario gráfica, Texto, Aplicación&#10;&#10;El contenido generado por IA puede ser incorrecto.">
            <a:extLst>
              <a:ext uri="{FF2B5EF4-FFF2-40B4-BE49-F238E27FC236}">
                <a16:creationId xmlns:a16="http://schemas.microsoft.com/office/drawing/2014/main" id="{7E75B629-4EFE-222B-839F-FC32C0824FCF}"/>
              </a:ext>
            </a:extLst>
          </p:cNvPr>
          <p:cNvPicPr>
            <a:picLocks noChangeAspect="1"/>
          </p:cNvPicPr>
          <p:nvPr/>
        </p:nvPicPr>
        <p:blipFill>
          <a:blip r:embed="rId2"/>
          <a:stretch>
            <a:fillRect/>
          </a:stretch>
        </p:blipFill>
        <p:spPr>
          <a:xfrm>
            <a:off x="555695" y="2822851"/>
            <a:ext cx="11058525" cy="2647950"/>
          </a:xfrm>
          <a:prstGeom prst="rect">
            <a:avLst/>
          </a:prstGeom>
        </p:spPr>
      </p:pic>
      <p:pic>
        <p:nvPicPr>
          <p:cNvPr id="7" name="Imagen 6">
            <a:extLst>
              <a:ext uri="{FF2B5EF4-FFF2-40B4-BE49-F238E27FC236}">
                <a16:creationId xmlns:a16="http://schemas.microsoft.com/office/drawing/2014/main" id="{FB9BCB17-5F7A-2456-E67A-B2CA03254018}"/>
              </a:ext>
            </a:extLst>
          </p:cNvPr>
          <p:cNvPicPr>
            <a:picLocks noChangeAspect="1"/>
          </p:cNvPicPr>
          <p:nvPr/>
        </p:nvPicPr>
        <p:blipFill>
          <a:blip r:embed="rId3"/>
          <a:stretch>
            <a:fillRect/>
          </a:stretch>
        </p:blipFill>
        <p:spPr>
          <a:xfrm>
            <a:off x="4650961" y="1375258"/>
            <a:ext cx="2514600" cy="904875"/>
          </a:xfrm>
          <a:prstGeom prst="rect">
            <a:avLst/>
          </a:prstGeom>
        </p:spPr>
      </p:pic>
    </p:spTree>
    <p:extLst>
      <p:ext uri="{BB962C8B-B14F-4D97-AF65-F5344CB8AC3E}">
        <p14:creationId xmlns:p14="http://schemas.microsoft.com/office/powerpoint/2010/main" val="13702526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7C0E-2677-BADF-D636-6F9B71E665F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8D44BF-A3B5-6BED-C39C-FA8260E83536}"/>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#6 – 6.1 2x2 Multimode Interference Coupler </a:t>
            </a:r>
            <a:br>
              <a:rPr lang="en-US" sz="2500"/>
            </a:br>
            <a:r>
              <a:rPr lang="en-US" b="0"/>
              <a:t>Wavelength 1.55 µm, </a:t>
            </a:r>
            <a:r>
              <a:rPr lang="en-US" b="0" err="1"/>
              <a:t>wMMI</a:t>
            </a:r>
            <a:r>
              <a:rPr lang="en-US" b="0"/>
              <a:t> = 6.6 µm</a:t>
            </a:r>
            <a:endParaRPr lang="en-US" sz="2500" b="0">
              <a:latin typeface="+mj-lt"/>
              <a:cs typeface="Lucida Sans"/>
            </a:endParaRPr>
          </a:p>
        </p:txBody>
      </p:sp>
      <p:pic>
        <p:nvPicPr>
          <p:cNvPr id="83" name="Gráfico 82">
            <a:extLst>
              <a:ext uri="{FF2B5EF4-FFF2-40B4-BE49-F238E27FC236}">
                <a16:creationId xmlns:a16="http://schemas.microsoft.com/office/drawing/2014/main" id="{5DFCF1AD-6B06-F914-AC0B-80F0ED838E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A656CCE-66E0-EAE0-5C63-DF1315DF6299}"/>
              </a:ext>
            </a:extLst>
          </p:cNvPr>
          <p:cNvSpPr>
            <a:spLocks noGrp="1"/>
          </p:cNvSpPr>
          <p:nvPr>
            <p:ph type="sldNum" sz="quarter" idx="7"/>
          </p:nvPr>
        </p:nvSpPr>
        <p:spPr/>
        <p:txBody>
          <a:bodyPr/>
          <a:lstStyle/>
          <a:p>
            <a:fld id="{B6F15528-21DE-4FAA-801E-634DDDAF4B2B}" type="slidenum">
              <a:rPr lang="es-ES" smtClean="0"/>
              <a:t>21</a:t>
            </a:fld>
            <a:endParaRPr lang="es-ES"/>
          </a:p>
        </p:txBody>
      </p:sp>
      <p:sp>
        <p:nvSpPr>
          <p:cNvPr id="3" name="Marcador de pie de página 2">
            <a:extLst>
              <a:ext uri="{FF2B5EF4-FFF2-40B4-BE49-F238E27FC236}">
                <a16:creationId xmlns:a16="http://schemas.microsoft.com/office/drawing/2014/main" id="{D3AB6581-C493-80EB-A67F-5289454DAA28}"/>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B5029729-ADF3-3B30-4FF9-83BE1DB82BD7}"/>
              </a:ext>
            </a:extLst>
          </p:cNvPr>
          <p:cNvSpPr txBox="1"/>
          <p:nvPr/>
        </p:nvSpPr>
        <p:spPr>
          <a:xfrm>
            <a:off x="609441" y="4819471"/>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Comment results (Coupling relationship, </a:t>
            </a:r>
            <a:r>
              <a:rPr lang="en-US" sz="1200" err="1">
                <a:latin typeface="Arial" panose="020B0604020202020204" pitchFamily="34" charset="0"/>
                <a:cs typeface="Arial" panose="020B0604020202020204" pitchFamily="34" charset="0"/>
              </a:rPr>
              <a:t>Lpi</a:t>
            </a:r>
            <a:r>
              <a:rPr lang="en-US" sz="1200">
                <a:latin typeface="Arial" panose="020B0604020202020204" pitchFamily="34" charset="0"/>
                <a:cs typeface="Arial" panose="020B0604020202020204" pitchFamily="34" charset="0"/>
              </a:rPr>
              <a:t>,  losses, comparison with Directional Coupler… )</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8DE5FDA-4E91-E843-E84A-1467BFAA9986}"/>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0DA14DBA-172E-DA2C-0573-6A00BF18F4A5}"/>
              </a:ext>
            </a:extLst>
          </p:cNvPr>
          <p:cNvSpPr txBox="1"/>
          <p:nvPr/>
        </p:nvSpPr>
        <p:spPr>
          <a:xfrm>
            <a:off x="2286000" y="2630415"/>
            <a:ext cx="7718580"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propagation plots and console results</a:t>
            </a:r>
          </a:p>
        </p:txBody>
      </p:sp>
    </p:spTree>
    <p:extLst>
      <p:ext uri="{BB962C8B-B14F-4D97-AF65-F5344CB8AC3E}">
        <p14:creationId xmlns:p14="http://schemas.microsoft.com/office/powerpoint/2010/main" val="28156794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54BDFB-58B3-AD49-DD61-E3E4ACA66654}"/>
              </a:ext>
            </a:extLst>
          </p:cNvPr>
          <p:cNvSpPr>
            <a:spLocks noGrp="1"/>
          </p:cNvSpPr>
          <p:nvPr>
            <p:ph type="title"/>
          </p:nvPr>
        </p:nvSpPr>
        <p:spPr/>
        <p:txBody>
          <a:bodyPr wrap="square" lIns="0" tIns="0" rIns="0" bIns="0" anchor="t">
            <a:spAutoFit/>
          </a:bodyPr>
          <a:lstStyle/>
          <a:p>
            <a:r>
              <a:rPr lang="es-ES">
                <a:ea typeface="Calibri"/>
              </a:rPr>
              <a:t>Resultados apartado 6</a:t>
            </a:r>
            <a:endParaRPr lang="es-ES"/>
          </a:p>
        </p:txBody>
      </p:sp>
      <p:sp>
        <p:nvSpPr>
          <p:cNvPr id="3" name="Marcador de texto 2">
            <a:extLst>
              <a:ext uri="{FF2B5EF4-FFF2-40B4-BE49-F238E27FC236}">
                <a16:creationId xmlns:a16="http://schemas.microsoft.com/office/drawing/2014/main" id="{460938FD-57C7-213A-86D2-37C16A6F05D4}"/>
              </a:ext>
            </a:extLst>
          </p:cNvPr>
          <p:cNvSpPr>
            <a:spLocks noGrp="1"/>
          </p:cNvSpPr>
          <p:nvPr>
            <p:ph type="body" idx="1"/>
          </p:nvPr>
        </p:nvSpPr>
        <p:spPr>
          <a:xfrm>
            <a:off x="609600" y="783519"/>
            <a:ext cx="10972800" cy="1384995"/>
          </a:xfrm>
        </p:spPr>
        <p:txBody>
          <a:bodyPr wrap="square" lIns="0" tIns="0" rIns="0" bIns="0" anchor="t">
            <a:spAutoFit/>
          </a:bodyPr>
          <a:lstStyle/>
          <a:p>
            <a:r>
              <a:rPr lang="es-ES"/>
              <a:t>En la siguiente imagen se puede apreciar los resultados obtenidos al ejecutar el código del apartado 6, en él se aprecian varias características típicas de los MMI que describen su comportamiento, se puede apreciar su longitud 34.51µm, el ancho de las vías de entrada y salida 1µm, la potencia de entrada y la de salida, se puede apreciar cómo se ha perdido un poco de potencia en el MMI, asimismo se aprecian las perdidas en dB 0.4217 dB y finalmente se ve las potencias de salida en cada vía y el ratio de reparto entre ellas.</a:t>
            </a:r>
            <a:endParaRPr lang="es-ES">
              <a:solidFill>
                <a:srgbClr val="000000"/>
              </a:solidFill>
              <a:ea typeface="+mn-lt"/>
              <a:cs typeface="+mn-lt"/>
            </a:endParaRPr>
          </a:p>
        </p:txBody>
      </p:sp>
      <p:sp>
        <p:nvSpPr>
          <p:cNvPr id="4" name="Marcador de pie de página 3">
            <a:extLst>
              <a:ext uri="{FF2B5EF4-FFF2-40B4-BE49-F238E27FC236}">
                <a16:creationId xmlns:a16="http://schemas.microsoft.com/office/drawing/2014/main" id="{FC6AC230-98D8-D757-E88B-568AF0E565B8}"/>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0C8729EE-5A58-54C1-B3E7-EC33F4D49EEE}"/>
              </a:ext>
            </a:extLst>
          </p:cNvPr>
          <p:cNvSpPr>
            <a:spLocks noGrp="1"/>
          </p:cNvSpPr>
          <p:nvPr>
            <p:ph type="sldNum" sz="quarter" idx="7"/>
          </p:nvPr>
        </p:nvSpPr>
        <p:spPr/>
        <p:txBody>
          <a:bodyPr/>
          <a:lstStyle/>
          <a:p>
            <a:fld id="{B6F15528-21DE-4FAA-801E-634DDDAF4B2B}" type="slidenum">
              <a:rPr lang="es-ES"/>
              <a:t>22</a:t>
            </a:fld>
            <a:endParaRPr lang="es-ES"/>
          </a:p>
        </p:txBody>
      </p:sp>
      <p:pic>
        <p:nvPicPr>
          <p:cNvPr id="6" name="Imagen 5" descr="Interfaz de usuario gráfica&#10;&#10;El contenido generado por IA puede ser incorrecto.">
            <a:extLst>
              <a:ext uri="{FF2B5EF4-FFF2-40B4-BE49-F238E27FC236}">
                <a16:creationId xmlns:a16="http://schemas.microsoft.com/office/drawing/2014/main" id="{3A563481-277C-4AD0-D98D-AFC9438C8076}"/>
              </a:ext>
            </a:extLst>
          </p:cNvPr>
          <p:cNvPicPr>
            <a:picLocks noChangeAspect="1"/>
          </p:cNvPicPr>
          <p:nvPr/>
        </p:nvPicPr>
        <p:blipFill>
          <a:blip r:embed="rId2"/>
          <a:stretch>
            <a:fillRect/>
          </a:stretch>
        </p:blipFill>
        <p:spPr>
          <a:xfrm>
            <a:off x="4034921" y="2473739"/>
            <a:ext cx="4111114" cy="3986696"/>
          </a:xfrm>
          <a:prstGeom prst="rect">
            <a:avLst/>
          </a:prstGeom>
        </p:spPr>
      </p:pic>
    </p:spTree>
    <p:extLst>
      <p:ext uri="{BB962C8B-B14F-4D97-AF65-F5344CB8AC3E}">
        <p14:creationId xmlns:p14="http://schemas.microsoft.com/office/powerpoint/2010/main" val="13625019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11DBE-A482-7036-60B2-70B7E2318F4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096193E-AB86-E3CD-BDAC-0F9156C1A3F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#6.2 – 2x2 Multimode Interference Coupler - Optimization</a:t>
            </a:r>
            <a:br>
              <a:rPr lang="en-US" sz="2500"/>
            </a:br>
            <a:r>
              <a:rPr lang="en-US" b="0"/>
              <a:t>Wavelength 1.55 µm, </a:t>
            </a:r>
            <a:r>
              <a:rPr lang="en-US" b="0" err="1"/>
              <a:t>wMMI</a:t>
            </a:r>
            <a:r>
              <a:rPr lang="en-US" b="0"/>
              <a:t> = 6.6 µm</a:t>
            </a:r>
            <a:endParaRPr lang="en-US" sz="2500" b="0">
              <a:latin typeface="+mj-lt"/>
              <a:cs typeface="Lucida Sans"/>
            </a:endParaRPr>
          </a:p>
        </p:txBody>
      </p:sp>
      <p:pic>
        <p:nvPicPr>
          <p:cNvPr id="83" name="Gráfico 82">
            <a:extLst>
              <a:ext uri="{FF2B5EF4-FFF2-40B4-BE49-F238E27FC236}">
                <a16:creationId xmlns:a16="http://schemas.microsoft.com/office/drawing/2014/main" id="{2D17DCD6-D851-E62D-D95C-A9F9954602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891046F-11DC-B7FC-54F7-9583E688DC0E}"/>
              </a:ext>
            </a:extLst>
          </p:cNvPr>
          <p:cNvSpPr>
            <a:spLocks noGrp="1"/>
          </p:cNvSpPr>
          <p:nvPr>
            <p:ph type="sldNum" sz="quarter" idx="7"/>
          </p:nvPr>
        </p:nvSpPr>
        <p:spPr/>
        <p:txBody>
          <a:bodyPr/>
          <a:lstStyle/>
          <a:p>
            <a:fld id="{B6F15528-21DE-4FAA-801E-634DDDAF4B2B}" type="slidenum">
              <a:rPr lang="es-ES" smtClean="0"/>
              <a:t>23</a:t>
            </a:fld>
            <a:endParaRPr lang="es-ES"/>
          </a:p>
        </p:txBody>
      </p:sp>
      <p:sp>
        <p:nvSpPr>
          <p:cNvPr id="3" name="Marcador de pie de página 2">
            <a:extLst>
              <a:ext uri="{FF2B5EF4-FFF2-40B4-BE49-F238E27FC236}">
                <a16:creationId xmlns:a16="http://schemas.microsoft.com/office/drawing/2014/main" id="{4C9BAA39-017F-D602-6705-A6CF44830139}"/>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43D7D9E5-DAC3-2BB8-7377-826863CBAD4E}"/>
              </a:ext>
            </a:extLst>
          </p:cNvPr>
          <p:cNvSpPr txBox="1"/>
          <p:nvPr/>
        </p:nvSpPr>
        <p:spPr>
          <a:xfrm>
            <a:off x="609441" y="4819471"/>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Comment results</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772491E-4FFB-FFC3-C855-72A4B15F3E73}"/>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643565A9-7DB6-D6EE-152F-2852C8BA7986}"/>
              </a:ext>
            </a:extLst>
          </p:cNvPr>
          <p:cNvSpPr txBox="1"/>
          <p:nvPr/>
        </p:nvSpPr>
        <p:spPr>
          <a:xfrm>
            <a:off x="640245" y="1942909"/>
            <a:ext cx="11199972" cy="2708434"/>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propagation plot and console results</a:t>
            </a:r>
          </a:p>
          <a:p>
            <a:pPr algn="ctr"/>
            <a:endParaRPr lang="en-US"/>
          </a:p>
          <a:p>
            <a:pPr algn="ctr"/>
            <a:endParaRPr lang="en-US"/>
          </a:p>
          <a:p>
            <a:pPr algn="r"/>
            <a:r>
              <a:rPr lang="en-US" sz="1600" b="1"/>
              <a:t>Target</a:t>
            </a:r>
            <a:r>
              <a:rPr lang="en-US" sz="1600"/>
              <a:t>: make equal ratio over outputs (even if not 0.5) and minimize excess loss (even if not 0.0 dB)</a:t>
            </a:r>
          </a:p>
          <a:p>
            <a:pPr algn="r"/>
            <a:r>
              <a:rPr lang="en-US" sz="1600"/>
              <a:t>With same settings of previous LO, now adjust try to manually optimize the MMI by changing iteratively:</a:t>
            </a:r>
          </a:p>
          <a:p>
            <a:pPr algn="r"/>
            <a:r>
              <a:rPr lang="en-US" sz="1600"/>
              <a:t>- Change </a:t>
            </a:r>
            <a:r>
              <a:rPr lang="en-US" sz="1600" err="1"/>
              <a:t>dL_MMI</a:t>
            </a:r>
            <a:endParaRPr lang="en-US" sz="1600"/>
          </a:p>
          <a:p>
            <a:pPr algn="r"/>
            <a:r>
              <a:rPr lang="en-US" sz="1600"/>
              <a:t>- Change I/O waveguide position +/- </a:t>
            </a:r>
            <a:r>
              <a:rPr lang="en-US" sz="1600" err="1"/>
              <a:t>dy</a:t>
            </a:r>
            <a:endParaRPr lang="en-US" sz="1600"/>
          </a:p>
          <a:p>
            <a:pPr algn="r"/>
            <a:r>
              <a:rPr lang="en-US" sz="1600" b="1"/>
              <a:t>Hints</a:t>
            </a:r>
            <a:r>
              <a:rPr lang="en-US" sz="1600"/>
              <a:t>: observe the 2D EME propagation results to guide you to the best settings of a) and b).</a:t>
            </a:r>
          </a:p>
        </p:txBody>
      </p:sp>
    </p:spTree>
    <p:extLst>
      <p:ext uri="{BB962C8B-B14F-4D97-AF65-F5344CB8AC3E}">
        <p14:creationId xmlns:p14="http://schemas.microsoft.com/office/powerpoint/2010/main" val="26852157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1F8048-AD84-5F75-E370-F6522A0D50B6}"/>
              </a:ext>
            </a:extLst>
          </p:cNvPr>
          <p:cNvSpPr>
            <a:spLocks noGrp="1"/>
          </p:cNvSpPr>
          <p:nvPr>
            <p:ph type="title"/>
          </p:nvPr>
        </p:nvSpPr>
        <p:spPr/>
        <p:txBody>
          <a:bodyPr wrap="square" lIns="0" tIns="0" rIns="0" bIns="0" anchor="t">
            <a:spAutoFit/>
          </a:bodyPr>
          <a:lstStyle/>
          <a:p>
            <a:r>
              <a:rPr lang="es-ES">
                <a:ea typeface="Calibri"/>
              </a:rPr>
              <a:t>Resultados apartado 6.2</a:t>
            </a:r>
            <a:endParaRPr lang="es-ES"/>
          </a:p>
        </p:txBody>
      </p:sp>
      <p:sp>
        <p:nvSpPr>
          <p:cNvPr id="3" name="Marcador de texto 2">
            <a:extLst>
              <a:ext uri="{FF2B5EF4-FFF2-40B4-BE49-F238E27FC236}">
                <a16:creationId xmlns:a16="http://schemas.microsoft.com/office/drawing/2014/main" id="{3541E763-16B5-573B-50D3-74D37B09EA1E}"/>
              </a:ext>
            </a:extLst>
          </p:cNvPr>
          <p:cNvSpPr>
            <a:spLocks noGrp="1"/>
          </p:cNvSpPr>
          <p:nvPr>
            <p:ph type="body" idx="1"/>
          </p:nvPr>
        </p:nvSpPr>
        <p:spPr>
          <a:xfrm>
            <a:off x="587513" y="816649"/>
            <a:ext cx="10972800" cy="1107996"/>
          </a:xfrm>
        </p:spPr>
        <p:txBody>
          <a:bodyPr wrap="square" lIns="0" tIns="0" rIns="0" bIns="0" anchor="t">
            <a:spAutoFit/>
          </a:bodyPr>
          <a:lstStyle/>
          <a:p>
            <a:r>
              <a:rPr lang="es-ES"/>
              <a:t>En este apartado se pretende mejorar las prestaciones de un MMI, es decir disminuir al máximo las perdidas manteniendo el ratio 50/50 en la salida, para ello se ha hecho un barrido de valores tanto en el tamaño del MMI y la posición de las vías de entrada y salida ya que estos valores hacen que se obtenga mejor o peor la imagen de entrada en la salida. Finalmente se ha conseguido lograr bajar las pérdidas de 0.5dB a 0.38dB.</a:t>
            </a:r>
            <a:endParaRPr lang="es-ES">
              <a:solidFill>
                <a:srgbClr val="000000"/>
              </a:solidFill>
              <a:latin typeface="Calibri"/>
              <a:ea typeface="Calibri"/>
              <a:cs typeface="Calibri"/>
            </a:endParaRPr>
          </a:p>
        </p:txBody>
      </p:sp>
      <p:sp>
        <p:nvSpPr>
          <p:cNvPr id="4" name="Marcador de pie de página 3">
            <a:extLst>
              <a:ext uri="{FF2B5EF4-FFF2-40B4-BE49-F238E27FC236}">
                <a16:creationId xmlns:a16="http://schemas.microsoft.com/office/drawing/2014/main" id="{2B98BFF4-0130-9FA8-1A9D-2E3553768631}"/>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3E134AE6-FE05-D2F8-420E-BBF58388776B}"/>
              </a:ext>
            </a:extLst>
          </p:cNvPr>
          <p:cNvSpPr>
            <a:spLocks noGrp="1"/>
          </p:cNvSpPr>
          <p:nvPr>
            <p:ph type="sldNum" sz="quarter" idx="7"/>
          </p:nvPr>
        </p:nvSpPr>
        <p:spPr/>
        <p:txBody>
          <a:bodyPr/>
          <a:lstStyle/>
          <a:p>
            <a:fld id="{B6F15528-21DE-4FAA-801E-634DDDAF4B2B}" type="slidenum">
              <a:rPr lang="es-ES"/>
              <a:t>24</a:t>
            </a:fld>
            <a:endParaRPr lang="es-ES"/>
          </a:p>
        </p:txBody>
      </p:sp>
      <p:pic>
        <p:nvPicPr>
          <p:cNvPr id="6" name="Imagen 5" descr="Interfaz de usuario gráfica&#10;&#10;El contenido generado por IA puede ser incorrecto.">
            <a:extLst>
              <a:ext uri="{FF2B5EF4-FFF2-40B4-BE49-F238E27FC236}">
                <a16:creationId xmlns:a16="http://schemas.microsoft.com/office/drawing/2014/main" id="{E7D395D1-2767-D9AF-6C7B-88FFD74F5406}"/>
              </a:ext>
            </a:extLst>
          </p:cNvPr>
          <p:cNvPicPr>
            <a:picLocks noChangeAspect="1"/>
          </p:cNvPicPr>
          <p:nvPr/>
        </p:nvPicPr>
        <p:blipFill>
          <a:blip r:embed="rId2"/>
          <a:stretch>
            <a:fillRect/>
          </a:stretch>
        </p:blipFill>
        <p:spPr>
          <a:xfrm>
            <a:off x="3915879" y="2540207"/>
            <a:ext cx="4349199" cy="3842716"/>
          </a:xfrm>
          <a:prstGeom prst="rect">
            <a:avLst/>
          </a:prstGeom>
        </p:spPr>
      </p:pic>
    </p:spTree>
    <p:extLst>
      <p:ext uri="{BB962C8B-B14F-4D97-AF65-F5344CB8AC3E}">
        <p14:creationId xmlns:p14="http://schemas.microsoft.com/office/powerpoint/2010/main" val="2736802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A9819-E058-DC4F-FB99-88F20442D9F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1662E38-DE72-ADF3-A38E-08ED40DCC2AD}"/>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#6.3 – 2x2 Multimode Interference Coupler – Optimization (II)</a:t>
            </a:r>
            <a:br>
              <a:rPr lang="en-US" sz="2500"/>
            </a:br>
            <a:r>
              <a:rPr lang="en-US" b="0"/>
              <a:t>Wavelength 1.55 µm, </a:t>
            </a:r>
            <a:r>
              <a:rPr lang="en-US" b="0" err="1"/>
              <a:t>wMMI</a:t>
            </a:r>
            <a:r>
              <a:rPr lang="en-US" b="0"/>
              <a:t> = 6.6 µm</a:t>
            </a:r>
            <a:endParaRPr lang="en-US" sz="2500" b="0">
              <a:latin typeface="+mj-lt"/>
              <a:cs typeface="Lucida Sans"/>
            </a:endParaRPr>
          </a:p>
        </p:txBody>
      </p:sp>
      <p:pic>
        <p:nvPicPr>
          <p:cNvPr id="83" name="Gráfico 82">
            <a:extLst>
              <a:ext uri="{FF2B5EF4-FFF2-40B4-BE49-F238E27FC236}">
                <a16:creationId xmlns:a16="http://schemas.microsoft.com/office/drawing/2014/main" id="{1CD4B005-DA76-DF7C-8A51-CA16DFD2CA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B06F952-20FD-3223-6AB8-83339507AFE8}"/>
              </a:ext>
            </a:extLst>
          </p:cNvPr>
          <p:cNvSpPr>
            <a:spLocks noGrp="1"/>
          </p:cNvSpPr>
          <p:nvPr>
            <p:ph type="sldNum" sz="quarter" idx="7"/>
          </p:nvPr>
        </p:nvSpPr>
        <p:spPr/>
        <p:txBody>
          <a:bodyPr/>
          <a:lstStyle/>
          <a:p>
            <a:fld id="{B6F15528-21DE-4FAA-801E-634DDDAF4B2B}" type="slidenum">
              <a:rPr lang="es-ES" smtClean="0"/>
              <a:t>25</a:t>
            </a:fld>
            <a:endParaRPr lang="es-ES"/>
          </a:p>
        </p:txBody>
      </p:sp>
      <p:sp>
        <p:nvSpPr>
          <p:cNvPr id="3" name="Marcador de pie de página 2">
            <a:extLst>
              <a:ext uri="{FF2B5EF4-FFF2-40B4-BE49-F238E27FC236}">
                <a16:creationId xmlns:a16="http://schemas.microsoft.com/office/drawing/2014/main" id="{8B06152F-2A2C-A19B-581F-494FDFF33752}"/>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EF5B7948-A25A-9043-7061-DD15A9023924}"/>
              </a:ext>
            </a:extLst>
          </p:cNvPr>
          <p:cNvSpPr txBox="1"/>
          <p:nvPr/>
        </p:nvSpPr>
        <p:spPr>
          <a:xfrm>
            <a:off x="609441" y="4819471"/>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Comment results</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C8036B97-F577-1F3C-3CE2-BD45F7D1FFC2}"/>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B0CFB20A-64F3-A296-71E8-F4FA17D35314}"/>
              </a:ext>
            </a:extLst>
          </p:cNvPr>
          <p:cNvSpPr txBox="1"/>
          <p:nvPr/>
        </p:nvSpPr>
        <p:spPr>
          <a:xfrm>
            <a:off x="640245" y="1942909"/>
            <a:ext cx="11199972" cy="2708434"/>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propagation plot and console results</a:t>
            </a:r>
          </a:p>
          <a:p>
            <a:pPr algn="ctr"/>
            <a:endParaRPr lang="en-US"/>
          </a:p>
          <a:p>
            <a:pPr algn="ctr"/>
            <a:endParaRPr lang="en-US"/>
          </a:p>
          <a:p>
            <a:pPr algn="r"/>
            <a:r>
              <a:rPr lang="en-US" sz="1600" b="1"/>
              <a:t>Target</a:t>
            </a:r>
            <a:r>
              <a:rPr lang="en-US" sz="1600"/>
              <a:t>: make ratio over outputs 0.5 + excess loss &lt; 0.1 dB</a:t>
            </a:r>
          </a:p>
          <a:p>
            <a:pPr algn="r"/>
            <a:r>
              <a:rPr lang="en-US" sz="1600"/>
              <a:t>With same settings of previous LO, now modify the notebook so I/O waveguides have a different width. </a:t>
            </a:r>
          </a:p>
          <a:p>
            <a:pPr algn="r"/>
            <a:r>
              <a:rPr lang="en-US" sz="1600" u="sng"/>
              <a:t>- The nominal I/O waveguide width you have been using is 1.0 µm, increase it.</a:t>
            </a:r>
          </a:p>
          <a:p>
            <a:pPr algn="r"/>
            <a:r>
              <a:rPr lang="en-US" sz="1600" b="1"/>
              <a:t>(Warning</a:t>
            </a:r>
            <a:r>
              <a:rPr lang="en-US" sz="1600"/>
              <a:t>! Every time you change the I/O waveguide width you have to re-run modes calculation)</a:t>
            </a:r>
          </a:p>
          <a:p>
            <a:pPr algn="r"/>
            <a:r>
              <a:rPr lang="en-US" sz="1600" b="1"/>
              <a:t>Hints</a:t>
            </a:r>
            <a:r>
              <a:rPr lang="en-US" sz="1600"/>
              <a:t>: observe the 2D EME propagation results to guide you to the best settings of a) and b).</a:t>
            </a:r>
          </a:p>
        </p:txBody>
      </p:sp>
    </p:spTree>
    <p:extLst>
      <p:ext uri="{BB962C8B-B14F-4D97-AF65-F5344CB8AC3E}">
        <p14:creationId xmlns:p14="http://schemas.microsoft.com/office/powerpoint/2010/main" val="10237312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BCC30B-315D-0F6A-457B-B50EE5207AFF}"/>
              </a:ext>
            </a:extLst>
          </p:cNvPr>
          <p:cNvSpPr>
            <a:spLocks noGrp="1"/>
          </p:cNvSpPr>
          <p:nvPr>
            <p:ph type="title"/>
          </p:nvPr>
        </p:nvSpPr>
        <p:spPr/>
        <p:txBody>
          <a:bodyPr wrap="square" lIns="0" tIns="0" rIns="0" bIns="0" anchor="t">
            <a:spAutoFit/>
          </a:bodyPr>
          <a:lstStyle/>
          <a:p>
            <a:r>
              <a:rPr lang="es-ES">
                <a:ea typeface="Calibri"/>
              </a:rPr>
              <a:t>Resultados apartado 6.3</a:t>
            </a:r>
            <a:endParaRPr lang="es-ES"/>
          </a:p>
        </p:txBody>
      </p:sp>
      <p:sp>
        <p:nvSpPr>
          <p:cNvPr id="3" name="Marcador de texto 2">
            <a:extLst>
              <a:ext uri="{FF2B5EF4-FFF2-40B4-BE49-F238E27FC236}">
                <a16:creationId xmlns:a16="http://schemas.microsoft.com/office/drawing/2014/main" id="{FCEE88E0-85D0-1E54-1D20-6A0526E65D2D}"/>
              </a:ext>
            </a:extLst>
          </p:cNvPr>
          <p:cNvSpPr>
            <a:spLocks noGrp="1"/>
          </p:cNvSpPr>
          <p:nvPr>
            <p:ph type="body" idx="1"/>
          </p:nvPr>
        </p:nvSpPr>
        <p:spPr>
          <a:xfrm>
            <a:off x="587513" y="927084"/>
            <a:ext cx="10972800" cy="1938992"/>
          </a:xfrm>
        </p:spPr>
        <p:txBody>
          <a:bodyPr wrap="square" lIns="0" tIns="0" rIns="0" bIns="0" anchor="t">
            <a:spAutoFit/>
          </a:bodyPr>
          <a:lstStyle/>
          <a:p>
            <a:r>
              <a:rPr lang="es-ES"/>
              <a:t>En este apartado al igual que en el anterior se pretende disminuir al máximo las perdidas  intentando  mantener el ratio 50/50 a la salida, en este apartado se han conseguido unas pérdidas de 0.0283 dB lo que genera un MMI casi perfecto debido a tener unas pérdidas casi nulas de potencia en el sistema. Para conseguir disminuir tanto las pérdidas se ha hecho otro barrido de valores, esta vez en el parámetro que define el ancho de las vías de entrada y salida. </a:t>
            </a:r>
            <a:r>
              <a:rPr lang="es-ES">
                <a:ea typeface="+mn-lt"/>
                <a:cs typeface="+mn-lt"/>
              </a:rPr>
              <a:t>La mejora se debe a que, al aumentar ligeramente el tamaño de estas guías, la luz entra y sale del MMI de una forma más “suave” y parecida a cómo se comporta dentro del propio dispositivo. Esto hace que haya menos desajustes en la propagación de la señal y que se pierda menos energía durante el proceso de transmisión.</a:t>
            </a:r>
            <a:endParaRPr lang="es-ES" err="1">
              <a:ea typeface="+mn-lt"/>
              <a:cs typeface="+mn-lt"/>
            </a:endParaRPr>
          </a:p>
        </p:txBody>
      </p:sp>
      <p:sp>
        <p:nvSpPr>
          <p:cNvPr id="4" name="Marcador de pie de página 3">
            <a:extLst>
              <a:ext uri="{FF2B5EF4-FFF2-40B4-BE49-F238E27FC236}">
                <a16:creationId xmlns:a16="http://schemas.microsoft.com/office/drawing/2014/main" id="{55E46EA9-73E5-A3B7-8EBD-E7F0320A9D3B}"/>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47908FB2-F85B-19F3-B9B8-9CB1C75A8A69}"/>
              </a:ext>
            </a:extLst>
          </p:cNvPr>
          <p:cNvSpPr>
            <a:spLocks noGrp="1"/>
          </p:cNvSpPr>
          <p:nvPr>
            <p:ph type="sldNum" sz="quarter" idx="7"/>
          </p:nvPr>
        </p:nvSpPr>
        <p:spPr/>
        <p:txBody>
          <a:bodyPr/>
          <a:lstStyle/>
          <a:p>
            <a:fld id="{B6F15528-21DE-4FAA-801E-634DDDAF4B2B}" type="slidenum">
              <a:rPr lang="es-ES"/>
              <a:t>26</a:t>
            </a:fld>
            <a:endParaRPr lang="es-ES"/>
          </a:p>
        </p:txBody>
      </p:sp>
      <p:pic>
        <p:nvPicPr>
          <p:cNvPr id="6" name="Imagen 5">
            <a:extLst>
              <a:ext uri="{FF2B5EF4-FFF2-40B4-BE49-F238E27FC236}">
                <a16:creationId xmlns:a16="http://schemas.microsoft.com/office/drawing/2014/main" id="{C1134705-5735-136F-3FB4-751F7338B631}"/>
              </a:ext>
            </a:extLst>
          </p:cNvPr>
          <p:cNvPicPr>
            <a:picLocks noChangeAspect="1"/>
          </p:cNvPicPr>
          <p:nvPr/>
        </p:nvPicPr>
        <p:blipFill>
          <a:blip r:embed="rId2"/>
          <a:stretch>
            <a:fillRect/>
          </a:stretch>
        </p:blipFill>
        <p:spPr>
          <a:xfrm>
            <a:off x="3855352" y="2926520"/>
            <a:ext cx="4448165" cy="3533914"/>
          </a:xfrm>
          <a:prstGeom prst="rect">
            <a:avLst/>
          </a:prstGeom>
        </p:spPr>
      </p:pic>
    </p:spTree>
    <p:extLst>
      <p:ext uri="{BB962C8B-B14F-4D97-AF65-F5344CB8AC3E}">
        <p14:creationId xmlns:p14="http://schemas.microsoft.com/office/powerpoint/2010/main" val="36879864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1363-C83E-82B6-7BDE-AD2801F8B66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E256546-3103-104D-A87F-78AEBE5D595E}"/>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#7 – 1x4 Multimode Interference Coupler </a:t>
            </a:r>
            <a:br>
              <a:rPr lang="en-US" sz="2500"/>
            </a:br>
            <a:r>
              <a:rPr lang="en-US" b="0"/>
              <a:t>Wavelength 1.55 µm, </a:t>
            </a:r>
            <a:r>
              <a:rPr lang="en-US" b="0" err="1"/>
              <a:t>wMMI</a:t>
            </a:r>
            <a:r>
              <a:rPr lang="en-US" b="0"/>
              <a:t> = ? µm</a:t>
            </a:r>
            <a:endParaRPr lang="en-US" sz="2500" b="0">
              <a:latin typeface="+mj-lt"/>
              <a:cs typeface="Lucida Sans"/>
            </a:endParaRPr>
          </a:p>
        </p:txBody>
      </p:sp>
      <p:pic>
        <p:nvPicPr>
          <p:cNvPr id="83" name="Gráfico 82">
            <a:extLst>
              <a:ext uri="{FF2B5EF4-FFF2-40B4-BE49-F238E27FC236}">
                <a16:creationId xmlns:a16="http://schemas.microsoft.com/office/drawing/2014/main" id="{4BFCA3D8-29F6-7091-7099-77888A9F86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2E75535-0FBC-4C5F-9AC5-7008914FCF56}"/>
              </a:ext>
            </a:extLst>
          </p:cNvPr>
          <p:cNvSpPr>
            <a:spLocks noGrp="1"/>
          </p:cNvSpPr>
          <p:nvPr>
            <p:ph type="sldNum" sz="quarter" idx="7"/>
          </p:nvPr>
        </p:nvSpPr>
        <p:spPr/>
        <p:txBody>
          <a:bodyPr/>
          <a:lstStyle/>
          <a:p>
            <a:fld id="{B6F15528-21DE-4FAA-801E-634DDDAF4B2B}" type="slidenum">
              <a:rPr lang="es-ES" smtClean="0"/>
              <a:t>27</a:t>
            </a:fld>
            <a:endParaRPr lang="es-ES"/>
          </a:p>
        </p:txBody>
      </p:sp>
      <p:sp>
        <p:nvSpPr>
          <p:cNvPr id="3" name="Marcador de pie de página 2">
            <a:extLst>
              <a:ext uri="{FF2B5EF4-FFF2-40B4-BE49-F238E27FC236}">
                <a16:creationId xmlns:a16="http://schemas.microsoft.com/office/drawing/2014/main" id="{07AC2AFF-A7D9-EBCD-7C5A-6CDF61B69366}"/>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42D73A2E-0E5A-8A39-6B70-F9E94D6DBB70}"/>
              </a:ext>
            </a:extLst>
          </p:cNvPr>
          <p:cNvSpPr txBox="1"/>
          <p:nvPr/>
        </p:nvSpPr>
        <p:spPr>
          <a:xfrm>
            <a:off x="609441" y="4819471"/>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Repeat all the design process for a 1x4 MMI Coupler.  </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AFB86587-21D4-5A33-7D00-DDF170C919BA}"/>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3506757-32B7-9151-DA89-AADDB7F7D093}"/>
              </a:ext>
            </a:extLst>
          </p:cNvPr>
          <p:cNvSpPr txBox="1"/>
          <p:nvPr/>
        </p:nvSpPr>
        <p:spPr>
          <a:xfrm>
            <a:off x="2286000" y="2630415"/>
            <a:ext cx="7718580"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propagation plots and console results</a:t>
            </a:r>
          </a:p>
        </p:txBody>
      </p:sp>
    </p:spTree>
    <p:extLst>
      <p:ext uri="{BB962C8B-B14F-4D97-AF65-F5344CB8AC3E}">
        <p14:creationId xmlns:p14="http://schemas.microsoft.com/office/powerpoint/2010/main" val="6998643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DA226E-FFDE-9E03-133E-26A35B02BC8E}"/>
              </a:ext>
            </a:extLst>
          </p:cNvPr>
          <p:cNvSpPr>
            <a:spLocks noGrp="1"/>
          </p:cNvSpPr>
          <p:nvPr>
            <p:ph type="title"/>
          </p:nvPr>
        </p:nvSpPr>
        <p:spPr/>
        <p:txBody>
          <a:bodyPr wrap="square" lIns="0" tIns="0" rIns="0" bIns="0" anchor="t">
            <a:spAutoFit/>
          </a:bodyPr>
          <a:lstStyle/>
          <a:p>
            <a:r>
              <a:rPr lang="es-ES">
                <a:ea typeface="Calibri"/>
              </a:rPr>
              <a:t>Resultados apartado 7</a:t>
            </a:r>
            <a:endParaRPr lang="es-ES"/>
          </a:p>
        </p:txBody>
      </p:sp>
      <p:sp>
        <p:nvSpPr>
          <p:cNvPr id="3" name="Marcador de texto 2">
            <a:extLst>
              <a:ext uri="{FF2B5EF4-FFF2-40B4-BE49-F238E27FC236}">
                <a16:creationId xmlns:a16="http://schemas.microsoft.com/office/drawing/2014/main" id="{80E42C1B-88B6-79D1-BCFE-744341CB6653}"/>
              </a:ext>
            </a:extLst>
          </p:cNvPr>
          <p:cNvSpPr>
            <a:spLocks noGrp="1"/>
          </p:cNvSpPr>
          <p:nvPr>
            <p:ph type="body" idx="1"/>
          </p:nvPr>
        </p:nvSpPr>
        <p:spPr>
          <a:xfrm>
            <a:off x="609600" y="761432"/>
            <a:ext cx="10972800" cy="1938992"/>
          </a:xfrm>
        </p:spPr>
        <p:txBody>
          <a:bodyPr wrap="square" lIns="0" tIns="0" rIns="0" bIns="0" anchor="t">
            <a:spAutoFit/>
          </a:bodyPr>
          <a:lstStyle/>
          <a:p>
            <a:r>
              <a:rPr lang="es-ES"/>
              <a:t>En este apartado se ha creado un acoplador de 1X4, para ello se ha puesto una vía de entrada y 4 salidas, este tipo de acopladores es simétrico, ya que tiene una entrada y N salidas. Para aprovechar al máximo la potencia se ha ajustado el largo de la vía para que estuviera a una distancia de 3L</a:t>
            </a:r>
            <a:r>
              <a:rPr lang="es-ES">
                <a:solidFill>
                  <a:srgbClr val="000000"/>
                </a:solidFill>
                <a:ea typeface="+mn-lt"/>
                <a:cs typeface="+mn-lt"/>
              </a:rPr>
              <a:t>π /4N, es decir 3Lπ /16 para que haya una imagen de la señal para cada vía de salida. Por otro lado, se ha ajustado los tamaños de las vías de entrada para disminuir al máximo las pérdidas y por último se ha ajustado la posición de las vías de salida para que salga el máximo de señal en cada una de las vías de salida logrando un ratio de salida de casi ¼ de señal en cada una. Asimismo, se ha logrado unas pérdidas de 0.1dB.</a:t>
            </a:r>
          </a:p>
        </p:txBody>
      </p:sp>
      <p:sp>
        <p:nvSpPr>
          <p:cNvPr id="4" name="Marcador de pie de página 3">
            <a:extLst>
              <a:ext uri="{FF2B5EF4-FFF2-40B4-BE49-F238E27FC236}">
                <a16:creationId xmlns:a16="http://schemas.microsoft.com/office/drawing/2014/main" id="{4428982A-3943-6823-E890-21766E8DE892}"/>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E5436852-D153-B312-D738-393DFCFD16BF}"/>
              </a:ext>
            </a:extLst>
          </p:cNvPr>
          <p:cNvSpPr>
            <a:spLocks noGrp="1"/>
          </p:cNvSpPr>
          <p:nvPr>
            <p:ph type="sldNum" sz="quarter" idx="7"/>
          </p:nvPr>
        </p:nvSpPr>
        <p:spPr/>
        <p:txBody>
          <a:bodyPr/>
          <a:lstStyle/>
          <a:p>
            <a:fld id="{B6F15528-21DE-4FAA-801E-634DDDAF4B2B}" type="slidenum">
              <a:rPr lang="es-ES"/>
              <a:t>28</a:t>
            </a:fld>
            <a:endParaRPr lang="es-ES"/>
          </a:p>
        </p:txBody>
      </p:sp>
      <p:pic>
        <p:nvPicPr>
          <p:cNvPr id="6" name="Imagen 5">
            <a:extLst>
              <a:ext uri="{FF2B5EF4-FFF2-40B4-BE49-F238E27FC236}">
                <a16:creationId xmlns:a16="http://schemas.microsoft.com/office/drawing/2014/main" id="{FA0E4173-D4D1-2225-9FAF-CCEB4D3586A9}"/>
              </a:ext>
            </a:extLst>
          </p:cNvPr>
          <p:cNvPicPr>
            <a:picLocks noChangeAspect="1"/>
          </p:cNvPicPr>
          <p:nvPr/>
        </p:nvPicPr>
        <p:blipFill>
          <a:blip r:embed="rId2"/>
          <a:stretch>
            <a:fillRect/>
          </a:stretch>
        </p:blipFill>
        <p:spPr>
          <a:xfrm>
            <a:off x="3912775" y="3090655"/>
            <a:ext cx="4344367" cy="3547993"/>
          </a:xfrm>
          <a:prstGeom prst="rect">
            <a:avLst/>
          </a:prstGeom>
        </p:spPr>
      </p:pic>
    </p:spTree>
    <p:extLst>
      <p:ext uri="{BB962C8B-B14F-4D97-AF65-F5344CB8AC3E}">
        <p14:creationId xmlns:p14="http://schemas.microsoft.com/office/powerpoint/2010/main" val="27619707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a:t>Extra #1 – Directional coupler gap dependence</a:t>
            </a:r>
            <a:br>
              <a:rPr lang="en-US" sz="2500"/>
            </a:br>
            <a:r>
              <a:rPr lang="en-US" b="0"/>
              <a:t>Wavelength 1.55 µm, width 1.0 µm, </a:t>
            </a:r>
            <a:r>
              <a:rPr lang="en-US"/>
              <a:t>gap 0.2-2.4 µm </a:t>
            </a:r>
            <a:r>
              <a:rPr lang="en-US" b="0"/>
              <a:t>(step 0.2 µm)</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29</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Make conclusions and observations from your results</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E7488849-10A1-FB48-F511-E57B062CD7E2}"/>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68726DAB-1B5F-39D1-63A0-BB708EA6E17F}"/>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6D309BFB-98FD-0CBA-3C6A-346D8859893B}"/>
              </a:ext>
            </a:extLst>
          </p:cNvPr>
          <p:cNvSpPr txBox="1"/>
          <p:nvPr/>
        </p:nvSpPr>
        <p:spPr>
          <a:xfrm>
            <a:off x="6331152" y="4342178"/>
            <a:ext cx="2269787" cy="369332"/>
          </a:xfrm>
          <a:prstGeom prst="rect">
            <a:avLst/>
          </a:prstGeom>
          <a:noFill/>
        </p:spPr>
        <p:txBody>
          <a:bodyPr wrap="square">
            <a:spAutoFit/>
          </a:bodyPr>
          <a:lstStyle/>
          <a:p>
            <a:r>
              <a:rPr lang="en-US"/>
              <a:t>slab = 150nm</a:t>
            </a:r>
            <a:endParaRPr lang="es-ES"/>
          </a:p>
        </p:txBody>
      </p:sp>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E9BD6C85-02F1-7B54-41E3-E3D9883786D8}"/>
                  </a:ext>
                </a:extLst>
              </p:cNvPr>
              <p:cNvSpPr txBox="1"/>
              <p:nvPr/>
            </p:nvSpPr>
            <p:spPr>
              <a:xfrm>
                <a:off x="1079403" y="2709096"/>
                <a:ext cx="4546634"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gap for TE and TM plot here</a:t>
                </a:r>
              </a:p>
            </p:txBody>
          </p:sp>
        </mc:Choice>
        <mc:Fallback>
          <p:sp>
            <p:nvSpPr>
              <p:cNvPr id="8" name="CuadroTexto 7">
                <a:extLst>
                  <a:ext uri="{FF2B5EF4-FFF2-40B4-BE49-F238E27FC236}">
                    <a16:creationId xmlns:a16="http://schemas.microsoft.com/office/drawing/2014/main" id="{E9BD6C85-02F1-7B54-41E3-E3D9883786D8}"/>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4"/>
                <a:stretch>
                  <a:fillRect t="-3289" b="-9211"/>
                </a:stretch>
              </a:blipFill>
            </p:spPr>
            <p:txBody>
              <a:bodyPr/>
              <a:lstStyle/>
              <a:p>
                <a:r>
                  <a:rPr lang="es-ES">
                    <a:noFill/>
                  </a:rPr>
                  <a:t> </a:t>
                </a:r>
              </a:p>
            </p:txBody>
          </p:sp>
        </mc:Fallback>
      </mc:AlternateContent>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7431A41C-EEB3-44D0-4622-A915E258C8F0}"/>
                  </a:ext>
                </a:extLst>
              </p:cNvPr>
              <p:cNvSpPr txBox="1"/>
              <p:nvPr/>
            </p:nvSpPr>
            <p:spPr>
              <a:xfrm>
                <a:off x="6883366" y="2709096"/>
                <a:ext cx="4546634" cy="923330"/>
              </a:xfrm>
              <a:prstGeom prst="rect">
                <a:avLst/>
              </a:prstGeom>
              <a:noFill/>
            </p:spPr>
            <p:txBody>
              <a:bodyPr wrap="square" rtlCol="0">
                <a:spAutoFit/>
              </a:bodyPr>
              <a:lstStyle/>
              <a:p>
                <a:pPr algn="ctr"/>
                <a:r>
                  <a:rPr lang="en-US" b="1"/>
                  <a:t>shallow</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gap for TE and TM plot here</a:t>
                </a:r>
              </a:p>
            </p:txBody>
          </p:sp>
        </mc:Choice>
        <mc:Fallback>
          <p:sp>
            <p:nvSpPr>
              <p:cNvPr id="9" name="CuadroTexto 8">
                <a:extLst>
                  <a:ext uri="{FF2B5EF4-FFF2-40B4-BE49-F238E27FC236}">
                    <a16:creationId xmlns:a16="http://schemas.microsoft.com/office/drawing/2014/main" id="{7431A41C-EEB3-44D0-4622-A915E258C8F0}"/>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5"/>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1797963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009FC-EC95-1840-8BE6-DC2995E1139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829B042-6FB6-6CF0-6754-25AECEB028AF}"/>
              </a:ext>
            </a:extLst>
          </p:cNvPr>
          <p:cNvSpPr>
            <a:spLocks noGrp="1"/>
          </p:cNvSpPr>
          <p:nvPr>
            <p:ph type="title"/>
          </p:nvPr>
        </p:nvSpPr>
        <p:spPr/>
        <p:txBody>
          <a:bodyPr wrap="square" lIns="0" tIns="0" rIns="0" bIns="0" anchor="t">
            <a:spAutoFit/>
          </a:bodyPr>
          <a:lstStyle/>
          <a:p>
            <a:r>
              <a:rPr lang="es-ES">
                <a:ea typeface="Calibri"/>
              </a:rPr>
              <a:t>Extra 1</a:t>
            </a:r>
            <a:endParaRPr lang="es-ES"/>
          </a:p>
        </p:txBody>
      </p:sp>
      <p:sp>
        <p:nvSpPr>
          <p:cNvPr id="3" name="Marcador de texto 2">
            <a:extLst>
              <a:ext uri="{FF2B5EF4-FFF2-40B4-BE49-F238E27FC236}">
                <a16:creationId xmlns:a16="http://schemas.microsoft.com/office/drawing/2014/main" id="{BC96D384-070D-3B4D-62AD-4A38E61B1422}"/>
              </a:ext>
            </a:extLst>
          </p:cNvPr>
          <p:cNvSpPr>
            <a:spLocks noGrp="1"/>
          </p:cNvSpPr>
          <p:nvPr>
            <p:ph type="body" idx="1"/>
          </p:nvPr>
        </p:nvSpPr>
        <p:spPr>
          <a:xfrm>
            <a:off x="609600" y="761432"/>
            <a:ext cx="10972800" cy="1107996"/>
          </a:xfrm>
        </p:spPr>
        <p:txBody>
          <a:bodyPr wrap="square" lIns="0" tIns="0" rIns="0" bIns="0" anchor="t">
            <a:spAutoFit/>
          </a:bodyPr>
          <a:lstStyle/>
          <a:p>
            <a:r>
              <a:rPr lang="es-ES"/>
              <a:t>En este apartado se ha realizado un barrido de la distancia de separación de las guías y se ha evaluado la longitud para la cual la diferencia de fase es de PI (LPI). El acoplamiento entre las dos guías depende del solapamiento de sus campos evanescentes, por lo que cuando más se aumenta la distancia de separación entre ambas, mayor será la longitud necesaria para transferir la potencia (LPI). </a:t>
            </a:r>
            <a:endParaRPr lang="es-ES">
              <a:solidFill>
                <a:srgbClr val="000000"/>
              </a:solidFill>
              <a:ea typeface="+mn-lt"/>
              <a:cs typeface="+mn-lt"/>
            </a:endParaRPr>
          </a:p>
        </p:txBody>
      </p:sp>
      <p:sp>
        <p:nvSpPr>
          <p:cNvPr id="4" name="Marcador de pie de página 3">
            <a:extLst>
              <a:ext uri="{FF2B5EF4-FFF2-40B4-BE49-F238E27FC236}">
                <a16:creationId xmlns:a16="http://schemas.microsoft.com/office/drawing/2014/main" id="{B3EFD55B-A62C-2E3C-D123-6C5760FF3906}"/>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643C32BD-E459-F16D-6D8B-4F0D61E2A7FB}"/>
              </a:ext>
            </a:extLst>
          </p:cNvPr>
          <p:cNvSpPr>
            <a:spLocks noGrp="1"/>
          </p:cNvSpPr>
          <p:nvPr>
            <p:ph type="sldNum" sz="quarter" idx="7"/>
          </p:nvPr>
        </p:nvSpPr>
        <p:spPr/>
        <p:txBody>
          <a:bodyPr/>
          <a:lstStyle/>
          <a:p>
            <a:fld id="{B6F15528-21DE-4FAA-801E-634DDDAF4B2B}" type="slidenum">
              <a:rPr lang="es-ES"/>
              <a:t>30</a:t>
            </a:fld>
            <a:endParaRPr lang="es-ES"/>
          </a:p>
        </p:txBody>
      </p:sp>
      <p:pic>
        <p:nvPicPr>
          <p:cNvPr id="10" name="Imagen 9">
            <a:extLst>
              <a:ext uri="{FF2B5EF4-FFF2-40B4-BE49-F238E27FC236}">
                <a16:creationId xmlns:a16="http://schemas.microsoft.com/office/drawing/2014/main" id="{A0DC7475-5757-F4CD-3AC1-0888D8B47416}"/>
              </a:ext>
            </a:extLst>
          </p:cNvPr>
          <p:cNvPicPr>
            <a:picLocks noChangeAspect="1"/>
          </p:cNvPicPr>
          <p:nvPr/>
        </p:nvPicPr>
        <p:blipFill>
          <a:blip r:embed="rId2"/>
          <a:stretch>
            <a:fillRect/>
          </a:stretch>
        </p:blipFill>
        <p:spPr>
          <a:xfrm>
            <a:off x="2524320" y="2116331"/>
            <a:ext cx="7124309" cy="4305252"/>
          </a:xfrm>
          <a:prstGeom prst="rect">
            <a:avLst/>
          </a:prstGeom>
        </p:spPr>
      </p:pic>
    </p:spTree>
    <p:extLst>
      <p:ext uri="{BB962C8B-B14F-4D97-AF65-F5344CB8AC3E}">
        <p14:creationId xmlns:p14="http://schemas.microsoft.com/office/powerpoint/2010/main" val="42615311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60F79-E2ED-1B1B-6289-A1259E80858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AC39480-E3E5-69B1-401F-A50C45531EF2}"/>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lnSpc>
                <a:spcPct val="100000"/>
              </a:lnSpc>
              <a:spcBef>
                <a:spcPts val="100"/>
              </a:spcBef>
            </a:pPr>
            <a:r>
              <a:rPr lang="en-US" sz="2500"/>
              <a:t>Extra #2 – Directional wavelength dependence</a:t>
            </a:r>
            <a:br>
              <a:rPr lang="en-US" sz="2500"/>
            </a:br>
            <a:r>
              <a:rPr lang="en-US" b="0"/>
              <a:t>Wavelengths </a:t>
            </a:r>
            <a:r>
              <a:rPr lang="en-US"/>
              <a:t>from 1.5 to 1.7 µm</a:t>
            </a:r>
            <a:r>
              <a:rPr lang="en-US" b="0"/>
              <a:t>, gap = 0.6 µm, width 1.0 µm</a:t>
            </a:r>
            <a:br>
              <a:rPr lang="en-US" b="0"/>
            </a:b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4BEE8680-2E49-EF52-0E73-7736679A4D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3F99BBB-5F10-0BE4-E2DE-E78EAA82F552}"/>
              </a:ext>
            </a:extLst>
          </p:cNvPr>
          <p:cNvSpPr>
            <a:spLocks noGrp="1"/>
          </p:cNvSpPr>
          <p:nvPr>
            <p:ph type="sldNum" sz="quarter" idx="7"/>
          </p:nvPr>
        </p:nvSpPr>
        <p:spPr/>
        <p:txBody>
          <a:bodyPr/>
          <a:lstStyle/>
          <a:p>
            <a:fld id="{B6F15528-21DE-4FAA-801E-634DDDAF4B2B}" type="slidenum">
              <a:rPr lang="es-ES" smtClean="0"/>
              <a:t>31</a:t>
            </a:fld>
            <a:endParaRPr lang="es-ES"/>
          </a:p>
        </p:txBody>
      </p:sp>
      <p:sp>
        <p:nvSpPr>
          <p:cNvPr id="3" name="Marcador de pie de página 2">
            <a:extLst>
              <a:ext uri="{FF2B5EF4-FFF2-40B4-BE49-F238E27FC236}">
                <a16:creationId xmlns:a16="http://schemas.microsoft.com/office/drawing/2014/main" id="{52B2FA4B-8D15-84DC-29D1-94F9F8504763}"/>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181326FD-308E-2C47-D5D2-57B3357241AA}"/>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Comment results</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B42E1AD9-10D4-8ACB-526F-2DA1DD2B9881}"/>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15ED9C7E-0684-E2B9-7FD6-9BCF17CC000A}"/>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5F16E403-DF61-C9A0-D57F-2E61BEFA8887}"/>
              </a:ext>
            </a:extLst>
          </p:cNvPr>
          <p:cNvSpPr txBox="1"/>
          <p:nvPr/>
        </p:nvSpPr>
        <p:spPr>
          <a:xfrm>
            <a:off x="6331152" y="4342178"/>
            <a:ext cx="2269787" cy="369332"/>
          </a:xfrm>
          <a:prstGeom prst="rect">
            <a:avLst/>
          </a:prstGeom>
          <a:noFill/>
        </p:spPr>
        <p:txBody>
          <a:bodyPr wrap="square">
            <a:spAutoFit/>
          </a:bodyPr>
          <a:lstStyle/>
          <a:p>
            <a:r>
              <a:rPr lang="en-US"/>
              <a:t>slab = 150nm</a:t>
            </a:r>
            <a:endParaRPr lang="es-ES"/>
          </a:p>
        </p:txBody>
      </p:sp>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B08C2240-8810-4E0A-7DCF-E62A8271EA2E}"/>
                  </a:ext>
                </a:extLst>
              </p:cNvPr>
              <p:cNvSpPr txBox="1"/>
              <p:nvPr/>
            </p:nvSpPr>
            <p:spPr>
              <a:xfrm>
                <a:off x="1079403" y="2709096"/>
                <a:ext cx="4546634"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a:t>
                </a:r>
                <a:r>
                  <a:rPr lang="en-US" err="1"/>
                  <a:t>wvl</a:t>
                </a:r>
                <a:r>
                  <a:rPr lang="en-US"/>
                  <a:t> for TE and TM plot here</a:t>
                </a:r>
              </a:p>
            </p:txBody>
          </p:sp>
        </mc:Choice>
        <mc:Fallback>
          <p:sp>
            <p:nvSpPr>
              <p:cNvPr id="8" name="CuadroTexto 7">
                <a:extLst>
                  <a:ext uri="{FF2B5EF4-FFF2-40B4-BE49-F238E27FC236}">
                    <a16:creationId xmlns:a16="http://schemas.microsoft.com/office/drawing/2014/main" id="{B08C2240-8810-4E0A-7DCF-E62A8271EA2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4"/>
                <a:stretch>
                  <a:fillRect t="-3289" b="-9211"/>
                </a:stretch>
              </a:blipFill>
            </p:spPr>
            <p:txBody>
              <a:bodyPr/>
              <a:lstStyle/>
              <a:p>
                <a:r>
                  <a:rPr lang="es-ES">
                    <a:noFill/>
                  </a:rPr>
                  <a:t> </a:t>
                </a:r>
              </a:p>
            </p:txBody>
          </p:sp>
        </mc:Fallback>
      </mc:AlternateContent>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BBDDC809-0F06-CBE2-4D1A-3A2FA36C33A8}"/>
                  </a:ext>
                </a:extLst>
              </p:cNvPr>
              <p:cNvSpPr txBox="1"/>
              <p:nvPr/>
            </p:nvSpPr>
            <p:spPr>
              <a:xfrm>
                <a:off x="6883366" y="2709096"/>
                <a:ext cx="4546634" cy="923330"/>
              </a:xfrm>
              <a:prstGeom prst="rect">
                <a:avLst/>
              </a:prstGeom>
              <a:noFill/>
            </p:spPr>
            <p:txBody>
              <a:bodyPr wrap="square" rtlCol="0">
                <a:spAutoFit/>
              </a:bodyPr>
              <a:lstStyle/>
              <a:p>
                <a:pPr algn="ctr"/>
                <a:r>
                  <a:rPr lang="en-US" b="1"/>
                  <a:t>shallow</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a:t>
                </a:r>
                <a:r>
                  <a:rPr lang="en-US" err="1"/>
                  <a:t>wvl</a:t>
                </a:r>
                <a:r>
                  <a:rPr lang="en-US"/>
                  <a:t> for TE and TM plot here</a:t>
                </a:r>
              </a:p>
            </p:txBody>
          </p:sp>
        </mc:Choice>
        <mc:Fallback>
          <p:sp>
            <p:nvSpPr>
              <p:cNvPr id="9" name="CuadroTexto 8">
                <a:extLst>
                  <a:ext uri="{FF2B5EF4-FFF2-40B4-BE49-F238E27FC236}">
                    <a16:creationId xmlns:a16="http://schemas.microsoft.com/office/drawing/2014/main" id="{BBDDC809-0F06-CBE2-4D1A-3A2FA36C33A8}"/>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5"/>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8135580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4B235-F6A6-45EA-59ED-036C395E0A9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50B7575-D460-CADD-5C8B-D3C5BA37490A}"/>
              </a:ext>
            </a:extLst>
          </p:cNvPr>
          <p:cNvSpPr>
            <a:spLocks noGrp="1"/>
          </p:cNvSpPr>
          <p:nvPr>
            <p:ph type="title"/>
          </p:nvPr>
        </p:nvSpPr>
        <p:spPr/>
        <p:txBody>
          <a:bodyPr wrap="square" lIns="0" tIns="0" rIns="0" bIns="0" anchor="t">
            <a:spAutoFit/>
          </a:bodyPr>
          <a:lstStyle/>
          <a:p>
            <a:r>
              <a:rPr lang="es-ES">
                <a:ea typeface="Calibri"/>
              </a:rPr>
              <a:t>Extra 2</a:t>
            </a:r>
            <a:endParaRPr lang="es-ES"/>
          </a:p>
        </p:txBody>
      </p:sp>
      <p:sp>
        <p:nvSpPr>
          <p:cNvPr id="3" name="Marcador de texto 2">
            <a:extLst>
              <a:ext uri="{FF2B5EF4-FFF2-40B4-BE49-F238E27FC236}">
                <a16:creationId xmlns:a16="http://schemas.microsoft.com/office/drawing/2014/main" id="{BBC53525-AE30-BE5E-32AB-59155AA24464}"/>
              </a:ext>
            </a:extLst>
          </p:cNvPr>
          <p:cNvSpPr>
            <a:spLocks noGrp="1"/>
          </p:cNvSpPr>
          <p:nvPr>
            <p:ph type="body" idx="1"/>
          </p:nvPr>
        </p:nvSpPr>
        <p:spPr>
          <a:xfrm>
            <a:off x="609600" y="761432"/>
            <a:ext cx="10972800" cy="1384995"/>
          </a:xfrm>
        </p:spPr>
        <p:txBody>
          <a:bodyPr wrap="square" lIns="0" tIns="0" rIns="0" bIns="0" anchor="t">
            <a:spAutoFit/>
          </a:bodyPr>
          <a:lstStyle/>
          <a:p>
            <a:r>
              <a:rPr lang="es-ES"/>
              <a:t>En este apartado se evaluado la longitud LPI en función de la longitud de onda de las guías. El trazado rojo discontinuo perteneciente al modo TM de la guía </a:t>
            </a:r>
            <a:r>
              <a:rPr lang="es-ES" err="1"/>
              <a:t>shallow</a:t>
            </a:r>
            <a:r>
              <a:rPr lang="es-ES"/>
              <a:t> debería ser una curva suave y continua al igual que las otras tres curvas, descendiendo suavemente a medida que aumenta la longitud de onda, ya que al aumentarla, el campo se expande y las guías interactúan con mayor facilidad. El fallo puede deberse posiblemente a errores numéricos en vez de a fenómenos físicos</a:t>
            </a:r>
            <a:endParaRPr lang="es-ES">
              <a:solidFill>
                <a:srgbClr val="000000"/>
              </a:solidFill>
              <a:ea typeface="+mn-lt"/>
              <a:cs typeface="+mn-lt"/>
            </a:endParaRPr>
          </a:p>
        </p:txBody>
      </p:sp>
      <p:sp>
        <p:nvSpPr>
          <p:cNvPr id="4" name="Marcador de pie de página 3">
            <a:extLst>
              <a:ext uri="{FF2B5EF4-FFF2-40B4-BE49-F238E27FC236}">
                <a16:creationId xmlns:a16="http://schemas.microsoft.com/office/drawing/2014/main" id="{425D6466-4FD0-7FE1-6BFF-6621EA0FB022}"/>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1AF5645F-3B3A-A4F4-F222-DEF6BFE6D7B7}"/>
              </a:ext>
            </a:extLst>
          </p:cNvPr>
          <p:cNvSpPr>
            <a:spLocks noGrp="1"/>
          </p:cNvSpPr>
          <p:nvPr>
            <p:ph type="sldNum" sz="quarter" idx="7"/>
          </p:nvPr>
        </p:nvSpPr>
        <p:spPr/>
        <p:txBody>
          <a:bodyPr/>
          <a:lstStyle/>
          <a:p>
            <a:fld id="{B6F15528-21DE-4FAA-801E-634DDDAF4B2B}" type="slidenum">
              <a:rPr lang="es-ES"/>
              <a:t>32</a:t>
            </a:fld>
            <a:endParaRPr lang="es-ES"/>
          </a:p>
        </p:txBody>
      </p:sp>
      <p:pic>
        <p:nvPicPr>
          <p:cNvPr id="8" name="Imagen 7">
            <a:extLst>
              <a:ext uri="{FF2B5EF4-FFF2-40B4-BE49-F238E27FC236}">
                <a16:creationId xmlns:a16="http://schemas.microsoft.com/office/drawing/2014/main" id="{724D3DF3-3F5F-E1C9-80CE-976A015DE189}"/>
              </a:ext>
            </a:extLst>
          </p:cNvPr>
          <p:cNvPicPr>
            <a:picLocks noChangeAspect="1"/>
          </p:cNvPicPr>
          <p:nvPr/>
        </p:nvPicPr>
        <p:blipFill>
          <a:blip r:embed="rId2"/>
          <a:stretch>
            <a:fillRect/>
          </a:stretch>
        </p:blipFill>
        <p:spPr>
          <a:xfrm>
            <a:off x="2678709" y="2393330"/>
            <a:ext cx="6834581" cy="3962359"/>
          </a:xfrm>
          <a:prstGeom prst="rect">
            <a:avLst/>
          </a:prstGeom>
        </p:spPr>
      </p:pic>
    </p:spTree>
    <p:extLst>
      <p:ext uri="{BB962C8B-B14F-4D97-AF65-F5344CB8AC3E}">
        <p14:creationId xmlns:p14="http://schemas.microsoft.com/office/powerpoint/2010/main" val="24711795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Extra #3 – MMI coupler wavelength dependence</a:t>
            </a:r>
            <a:br>
              <a:rPr lang="en-US" sz="2500" spc="-5">
                <a:latin typeface="+mj-lt"/>
                <a:cs typeface="Lucida Sans"/>
              </a:rPr>
            </a:br>
            <a:r>
              <a:rPr lang="en-US" b="0"/>
              <a:t>Wavelengths from 1.5 to 1.7 µm, </a:t>
            </a:r>
            <a:r>
              <a:rPr lang="en-US" b="0" err="1"/>
              <a:t>wMMI</a:t>
            </a:r>
            <a:r>
              <a:rPr lang="en-US" b="0"/>
              <a:t> = 6.6 µm</a:t>
            </a:r>
            <a:endParaRPr lang="en-US" sz="2500" b="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33</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Comment results (Important. Compare with Directional Coupler)</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796EDE51-D41E-C23B-F402-2F7357DE871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5A3233C9-FE6F-52D8-4D87-224222BDA8E1}"/>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0C016548-01A2-6E58-B80D-148384B98EB3}"/>
              </a:ext>
            </a:extLst>
          </p:cNvPr>
          <p:cNvSpPr txBox="1"/>
          <p:nvPr/>
        </p:nvSpPr>
        <p:spPr>
          <a:xfrm>
            <a:off x="6331152" y="4342178"/>
            <a:ext cx="2269787" cy="369332"/>
          </a:xfrm>
          <a:prstGeom prst="rect">
            <a:avLst/>
          </a:prstGeom>
          <a:noFill/>
        </p:spPr>
        <p:txBody>
          <a:bodyPr wrap="square">
            <a:spAutoFit/>
          </a:bodyPr>
          <a:lstStyle/>
          <a:p>
            <a:r>
              <a:rPr lang="en-US"/>
              <a:t>slab = 150nm</a:t>
            </a:r>
            <a:endParaRPr lang="es-ES"/>
          </a:p>
        </p:txBody>
      </p:sp>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075D03BE-0D6A-89E5-3C68-D7BD97B4676E}"/>
                  </a:ext>
                </a:extLst>
              </p:cNvPr>
              <p:cNvSpPr txBox="1"/>
              <p:nvPr/>
            </p:nvSpPr>
            <p:spPr>
              <a:xfrm>
                <a:off x="1079403" y="2709096"/>
                <a:ext cx="4546634"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a:t>
                </a:r>
                <a:r>
                  <a:rPr lang="en-US" err="1"/>
                  <a:t>wvl</a:t>
                </a:r>
                <a:r>
                  <a:rPr lang="en-US"/>
                  <a:t> for TE and TM plot here</a:t>
                </a:r>
              </a:p>
            </p:txBody>
          </p:sp>
        </mc:Choice>
        <mc:Fallback>
          <p:sp>
            <p:nvSpPr>
              <p:cNvPr id="9" name="CuadroTexto 8">
                <a:extLst>
                  <a:ext uri="{FF2B5EF4-FFF2-40B4-BE49-F238E27FC236}">
                    <a16:creationId xmlns:a16="http://schemas.microsoft.com/office/drawing/2014/main" id="{075D03BE-0D6A-89E5-3C68-D7BD97B4676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4"/>
                <a:stretch>
                  <a:fillRect t="-3289" b="-9211"/>
                </a:stretch>
              </a:blipFill>
            </p:spPr>
            <p:txBody>
              <a:bodyPr/>
              <a:lstStyle/>
              <a:p>
                <a:r>
                  <a:rPr lang="es-ES">
                    <a:noFill/>
                  </a:rPr>
                  <a:t> </a:t>
                </a:r>
              </a:p>
            </p:txBody>
          </p:sp>
        </mc:Fallback>
      </mc:AlternateContent>
      <mc:AlternateContent xmlns:mc="http://schemas.openxmlformats.org/markup-compatibility/2006">
        <mc:Choice xmlns:a14="http://schemas.microsoft.com/office/drawing/2010/main" Requires="a14">
          <p:sp>
            <p:nvSpPr>
              <p:cNvPr id="10" name="CuadroTexto 9">
                <a:extLst>
                  <a:ext uri="{FF2B5EF4-FFF2-40B4-BE49-F238E27FC236}">
                    <a16:creationId xmlns:a16="http://schemas.microsoft.com/office/drawing/2014/main" id="{AC01EDEE-71CC-C570-700B-076F03FCF7E1}"/>
                  </a:ext>
                </a:extLst>
              </p:cNvPr>
              <p:cNvSpPr txBox="1"/>
              <p:nvPr/>
            </p:nvSpPr>
            <p:spPr>
              <a:xfrm>
                <a:off x="6883366" y="2709096"/>
                <a:ext cx="4546634" cy="923330"/>
              </a:xfrm>
              <a:prstGeom prst="rect">
                <a:avLst/>
              </a:prstGeom>
              <a:noFill/>
            </p:spPr>
            <p:txBody>
              <a:bodyPr wrap="square" rtlCol="0">
                <a:spAutoFit/>
              </a:bodyPr>
              <a:lstStyle/>
              <a:p>
                <a:pPr algn="ctr"/>
                <a:r>
                  <a:rPr lang="en-US" b="1"/>
                  <a:t>shallow</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a:t>
                </a:r>
                <a:r>
                  <a:rPr lang="en-US" err="1"/>
                  <a:t>wvl</a:t>
                </a:r>
                <a:r>
                  <a:rPr lang="en-US"/>
                  <a:t> for TE and TM plot here</a:t>
                </a:r>
              </a:p>
            </p:txBody>
          </p:sp>
        </mc:Choice>
        <mc:Fallback>
          <p:sp>
            <p:nvSpPr>
              <p:cNvPr id="10" name="CuadroTexto 9">
                <a:extLst>
                  <a:ext uri="{FF2B5EF4-FFF2-40B4-BE49-F238E27FC236}">
                    <a16:creationId xmlns:a16="http://schemas.microsoft.com/office/drawing/2014/main" id="{AC01EDEE-71CC-C570-700B-076F03FCF7E1}"/>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5"/>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9551456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B6E3A-260F-DE26-797D-98CEE67088C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5C7AB05-FFFC-A4F9-FD3B-AE9205BF78BF}"/>
              </a:ext>
            </a:extLst>
          </p:cNvPr>
          <p:cNvSpPr>
            <a:spLocks noGrp="1"/>
          </p:cNvSpPr>
          <p:nvPr>
            <p:ph type="title"/>
          </p:nvPr>
        </p:nvSpPr>
        <p:spPr/>
        <p:txBody>
          <a:bodyPr wrap="square" lIns="0" tIns="0" rIns="0" bIns="0" anchor="t">
            <a:spAutoFit/>
          </a:bodyPr>
          <a:lstStyle/>
          <a:p>
            <a:r>
              <a:rPr lang="es-ES">
                <a:ea typeface="Calibri"/>
              </a:rPr>
              <a:t>Extra 3</a:t>
            </a:r>
            <a:endParaRPr lang="es-ES"/>
          </a:p>
        </p:txBody>
      </p:sp>
      <p:sp>
        <p:nvSpPr>
          <p:cNvPr id="3" name="Marcador de texto 2">
            <a:extLst>
              <a:ext uri="{FF2B5EF4-FFF2-40B4-BE49-F238E27FC236}">
                <a16:creationId xmlns:a16="http://schemas.microsoft.com/office/drawing/2014/main" id="{C0108D52-877F-B3D6-D81B-21A3E97F93CB}"/>
              </a:ext>
            </a:extLst>
          </p:cNvPr>
          <p:cNvSpPr>
            <a:spLocks noGrp="1"/>
          </p:cNvSpPr>
          <p:nvPr>
            <p:ph type="body" idx="1"/>
          </p:nvPr>
        </p:nvSpPr>
        <p:spPr>
          <a:xfrm>
            <a:off x="609600" y="761432"/>
            <a:ext cx="10972800" cy="1661993"/>
          </a:xfrm>
        </p:spPr>
        <p:txBody>
          <a:bodyPr wrap="square" lIns="0" tIns="0" rIns="0" bIns="0" anchor="t">
            <a:spAutoFit/>
          </a:bodyPr>
          <a:lstStyle/>
          <a:p>
            <a:r>
              <a:rPr lang="es-ES"/>
              <a:t>En este apartado se ha evaluado la longitud LPI en función de la frecuencia en un MMI. Como puede observarse en la gráfica y al igual que en los demás apartados, conforme aumenta la longitud de onda disminuye LPI. El efecto del </a:t>
            </a:r>
            <a:r>
              <a:rPr lang="es-ES" err="1"/>
              <a:t>slab</a:t>
            </a:r>
            <a:r>
              <a:rPr lang="es-ES"/>
              <a:t> en las guías </a:t>
            </a:r>
            <a:r>
              <a:rPr lang="es-ES" err="1"/>
              <a:t>shallow</a:t>
            </a:r>
            <a:r>
              <a:rPr lang="es-ES"/>
              <a:t> hace que las distancias sean mayores ya que el </a:t>
            </a:r>
            <a:r>
              <a:rPr lang="es-ES" err="1"/>
              <a:t>slab</a:t>
            </a:r>
            <a:r>
              <a:rPr lang="es-ES"/>
              <a:t> reduce el contraste de índice lateral, disminuyendo la diferencia de índices efectivos y por tanto aumentando la longitud LPI. Por otra parte, existe también una gran diferencia entre los modos TE y TM debido a la </a:t>
            </a:r>
            <a:r>
              <a:rPr lang="es-ES" err="1"/>
              <a:t>birrefrigerancia</a:t>
            </a:r>
            <a:r>
              <a:rPr lang="es-ES"/>
              <a:t> natural de las guías de nitruro de silicio, donde el confinamiento TE es muy superior al TM</a:t>
            </a:r>
            <a:endParaRPr lang="es-ES">
              <a:solidFill>
                <a:srgbClr val="000000"/>
              </a:solidFill>
              <a:ea typeface="+mn-lt"/>
              <a:cs typeface="+mn-lt"/>
            </a:endParaRPr>
          </a:p>
        </p:txBody>
      </p:sp>
      <p:sp>
        <p:nvSpPr>
          <p:cNvPr id="4" name="Marcador de pie de página 3">
            <a:extLst>
              <a:ext uri="{FF2B5EF4-FFF2-40B4-BE49-F238E27FC236}">
                <a16:creationId xmlns:a16="http://schemas.microsoft.com/office/drawing/2014/main" id="{FD2B8A30-7E5A-2844-B5F2-34A3C523F3A8}"/>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5C370D02-08CD-A49C-AE0B-B6F8D187FD8E}"/>
              </a:ext>
            </a:extLst>
          </p:cNvPr>
          <p:cNvSpPr>
            <a:spLocks noGrp="1"/>
          </p:cNvSpPr>
          <p:nvPr>
            <p:ph type="sldNum" sz="quarter" idx="7"/>
          </p:nvPr>
        </p:nvSpPr>
        <p:spPr/>
        <p:txBody>
          <a:bodyPr/>
          <a:lstStyle/>
          <a:p>
            <a:fld id="{B6F15528-21DE-4FAA-801E-634DDDAF4B2B}" type="slidenum">
              <a:rPr lang="es-ES"/>
              <a:t>34</a:t>
            </a:fld>
            <a:endParaRPr lang="es-ES"/>
          </a:p>
        </p:txBody>
      </p:sp>
      <p:pic>
        <p:nvPicPr>
          <p:cNvPr id="8" name="Imagen 7">
            <a:extLst>
              <a:ext uri="{FF2B5EF4-FFF2-40B4-BE49-F238E27FC236}">
                <a16:creationId xmlns:a16="http://schemas.microsoft.com/office/drawing/2014/main" id="{BD5362CF-6E69-2BE1-DE00-A69BFE7923BA}"/>
              </a:ext>
            </a:extLst>
          </p:cNvPr>
          <p:cNvPicPr>
            <a:picLocks noChangeAspect="1"/>
          </p:cNvPicPr>
          <p:nvPr/>
        </p:nvPicPr>
        <p:blipFill>
          <a:blip r:embed="rId2"/>
          <a:stretch>
            <a:fillRect/>
          </a:stretch>
        </p:blipFill>
        <p:spPr>
          <a:xfrm>
            <a:off x="2848318" y="2661989"/>
            <a:ext cx="6463322" cy="3772343"/>
          </a:xfrm>
          <a:prstGeom prst="rect">
            <a:avLst/>
          </a:prstGeom>
        </p:spPr>
      </p:pic>
    </p:spTree>
    <p:extLst>
      <p:ext uri="{BB962C8B-B14F-4D97-AF65-F5344CB8AC3E}">
        <p14:creationId xmlns:p14="http://schemas.microsoft.com/office/powerpoint/2010/main" val="42897248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5C897-D580-E5C1-161C-F8E072695C0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3FFBD12-4EFF-41C1-4765-2AD268B2BD9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Extra #4 – MMI coupler body width dependence</a:t>
            </a:r>
            <a:br>
              <a:rPr lang="en-US" sz="2500" spc="-5">
                <a:latin typeface="+mj-lt"/>
                <a:cs typeface="Lucida Sans"/>
              </a:rPr>
            </a:br>
            <a:r>
              <a:rPr lang="en-US" b="0"/>
              <a:t>Wavelength 1.55 µm, </a:t>
            </a:r>
            <a:r>
              <a:rPr lang="en-US" b="0" err="1"/>
              <a:t>wMMI</a:t>
            </a:r>
            <a:r>
              <a:rPr lang="en-US" b="0"/>
              <a:t> = 5-10 µm (steps 0.5 µm)</a:t>
            </a:r>
            <a:endParaRPr lang="en-US" sz="2500" b="0">
              <a:latin typeface="+mj-lt"/>
              <a:cs typeface="Lucida Sans"/>
            </a:endParaRPr>
          </a:p>
        </p:txBody>
      </p:sp>
      <p:pic>
        <p:nvPicPr>
          <p:cNvPr id="83" name="Gráfico 82">
            <a:extLst>
              <a:ext uri="{FF2B5EF4-FFF2-40B4-BE49-F238E27FC236}">
                <a16:creationId xmlns:a16="http://schemas.microsoft.com/office/drawing/2014/main" id="{C14AF521-052E-A1FA-D63D-CB0826C48D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C87B233-8A68-967F-55BC-3A828B5F39BA}"/>
              </a:ext>
            </a:extLst>
          </p:cNvPr>
          <p:cNvSpPr>
            <a:spLocks noGrp="1"/>
          </p:cNvSpPr>
          <p:nvPr>
            <p:ph type="sldNum" sz="quarter" idx="7"/>
          </p:nvPr>
        </p:nvSpPr>
        <p:spPr/>
        <p:txBody>
          <a:bodyPr/>
          <a:lstStyle/>
          <a:p>
            <a:fld id="{B6F15528-21DE-4FAA-801E-634DDDAF4B2B}" type="slidenum">
              <a:rPr lang="es-ES" smtClean="0"/>
              <a:t>35</a:t>
            </a:fld>
            <a:endParaRPr lang="es-ES"/>
          </a:p>
        </p:txBody>
      </p:sp>
      <p:sp>
        <p:nvSpPr>
          <p:cNvPr id="3" name="Marcador de pie de página 2">
            <a:extLst>
              <a:ext uri="{FF2B5EF4-FFF2-40B4-BE49-F238E27FC236}">
                <a16:creationId xmlns:a16="http://schemas.microsoft.com/office/drawing/2014/main" id="{DB1B524E-0E15-1C98-31B0-C98BD07BFBE8}"/>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8D88CB07-C5F5-9BB7-9F41-E171F0F0E2B9}"/>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Polarization independent coupler: is there any point for which the MMI coupler can work identically for TE and TM? Answer yes / no and explain why?</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B58B1BB0-E248-0BA3-D1B3-93649227103E}"/>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8E0E2533-B1CA-72C4-3859-1CBDD588788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154B5534-E510-6404-1E30-B73FDF73AD42}"/>
              </a:ext>
            </a:extLst>
          </p:cNvPr>
          <p:cNvSpPr txBox="1"/>
          <p:nvPr/>
        </p:nvSpPr>
        <p:spPr>
          <a:xfrm>
            <a:off x="6331152" y="4342178"/>
            <a:ext cx="2269787" cy="369332"/>
          </a:xfrm>
          <a:prstGeom prst="rect">
            <a:avLst/>
          </a:prstGeom>
          <a:noFill/>
        </p:spPr>
        <p:txBody>
          <a:bodyPr wrap="square">
            <a:spAutoFit/>
          </a:bodyPr>
          <a:lstStyle/>
          <a:p>
            <a:r>
              <a:rPr lang="en-US"/>
              <a:t>slab = 150nm</a:t>
            </a:r>
            <a:endParaRPr lang="es-ES"/>
          </a:p>
        </p:txBody>
      </p:sp>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2BDFECD2-156D-6697-CFBF-8CD783F9B986}"/>
                  </a:ext>
                </a:extLst>
              </p:cNvPr>
              <p:cNvSpPr txBox="1"/>
              <p:nvPr/>
            </p:nvSpPr>
            <p:spPr>
              <a:xfrm>
                <a:off x="1079403" y="2709096"/>
                <a:ext cx="4546634"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width for TE and TM plot here</a:t>
                </a:r>
              </a:p>
            </p:txBody>
          </p:sp>
        </mc:Choice>
        <mc:Fallback>
          <p:sp>
            <p:nvSpPr>
              <p:cNvPr id="9" name="CuadroTexto 8">
                <a:extLst>
                  <a:ext uri="{FF2B5EF4-FFF2-40B4-BE49-F238E27FC236}">
                    <a16:creationId xmlns:a16="http://schemas.microsoft.com/office/drawing/2014/main" id="{2BDFECD2-156D-6697-CFBF-8CD783F9B986}"/>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4"/>
                <a:stretch>
                  <a:fillRect t="-3289" b="-9211"/>
                </a:stretch>
              </a:blipFill>
            </p:spPr>
            <p:txBody>
              <a:bodyPr/>
              <a:lstStyle/>
              <a:p>
                <a:r>
                  <a:rPr lang="es-ES">
                    <a:noFill/>
                  </a:rPr>
                  <a:t> </a:t>
                </a:r>
              </a:p>
            </p:txBody>
          </p:sp>
        </mc:Fallback>
      </mc:AlternateContent>
      <mc:AlternateContent xmlns:mc="http://schemas.openxmlformats.org/markup-compatibility/2006">
        <mc:Choice xmlns:a14="http://schemas.microsoft.com/office/drawing/2010/main" Requires="a14">
          <p:sp>
            <p:nvSpPr>
              <p:cNvPr id="10" name="CuadroTexto 9">
                <a:extLst>
                  <a:ext uri="{FF2B5EF4-FFF2-40B4-BE49-F238E27FC236}">
                    <a16:creationId xmlns:a16="http://schemas.microsoft.com/office/drawing/2014/main" id="{3BFC64CA-DE35-A528-CF09-36A26DB3DEE4}"/>
                  </a:ext>
                </a:extLst>
              </p:cNvPr>
              <p:cNvSpPr txBox="1"/>
              <p:nvPr/>
            </p:nvSpPr>
            <p:spPr>
              <a:xfrm>
                <a:off x="6883366" y="2709096"/>
                <a:ext cx="4546634" cy="923330"/>
              </a:xfrm>
              <a:prstGeom prst="rect">
                <a:avLst/>
              </a:prstGeom>
              <a:noFill/>
            </p:spPr>
            <p:txBody>
              <a:bodyPr wrap="square" rtlCol="0">
                <a:spAutoFit/>
              </a:bodyPr>
              <a:lstStyle/>
              <a:p>
                <a:pPr algn="ctr"/>
                <a:r>
                  <a:rPr lang="en-US" b="1"/>
                  <a:t>shallow</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width for TE and TM plot here</a:t>
                </a:r>
              </a:p>
            </p:txBody>
          </p:sp>
        </mc:Choice>
        <mc:Fallback>
          <p:sp>
            <p:nvSpPr>
              <p:cNvPr id="10" name="CuadroTexto 9">
                <a:extLst>
                  <a:ext uri="{FF2B5EF4-FFF2-40B4-BE49-F238E27FC236}">
                    <a16:creationId xmlns:a16="http://schemas.microsoft.com/office/drawing/2014/main" id="{3BFC64CA-DE35-A528-CF09-36A26DB3DEE4}"/>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5"/>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5359394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AFBFF-8B66-6EE9-B0D3-341186B6C56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49C8F75-3ECE-90D7-C1D3-2D20486EC675}"/>
              </a:ext>
            </a:extLst>
          </p:cNvPr>
          <p:cNvSpPr>
            <a:spLocks noGrp="1"/>
          </p:cNvSpPr>
          <p:nvPr>
            <p:ph type="title"/>
          </p:nvPr>
        </p:nvSpPr>
        <p:spPr/>
        <p:txBody>
          <a:bodyPr wrap="square" lIns="0" tIns="0" rIns="0" bIns="0" anchor="t">
            <a:spAutoFit/>
          </a:bodyPr>
          <a:lstStyle/>
          <a:p>
            <a:r>
              <a:rPr lang="es-ES">
                <a:ea typeface="Calibri"/>
              </a:rPr>
              <a:t>Extra 4</a:t>
            </a:r>
            <a:endParaRPr lang="es-ES"/>
          </a:p>
        </p:txBody>
      </p:sp>
      <p:sp>
        <p:nvSpPr>
          <p:cNvPr id="3" name="Marcador de texto 2">
            <a:extLst>
              <a:ext uri="{FF2B5EF4-FFF2-40B4-BE49-F238E27FC236}">
                <a16:creationId xmlns:a16="http://schemas.microsoft.com/office/drawing/2014/main" id="{FBF8AFE6-0D04-B5EF-1479-2FC114100204}"/>
              </a:ext>
            </a:extLst>
          </p:cNvPr>
          <p:cNvSpPr>
            <a:spLocks noGrp="1"/>
          </p:cNvSpPr>
          <p:nvPr>
            <p:ph type="body" idx="1"/>
          </p:nvPr>
        </p:nvSpPr>
        <p:spPr>
          <a:xfrm>
            <a:off x="609600" y="761432"/>
            <a:ext cx="10972800" cy="1661993"/>
          </a:xfrm>
        </p:spPr>
        <p:txBody>
          <a:bodyPr wrap="square" lIns="0" tIns="0" rIns="0" bIns="0" anchor="t">
            <a:spAutoFit/>
          </a:bodyPr>
          <a:lstStyle/>
          <a:p>
            <a:r>
              <a:rPr lang="es-ES"/>
              <a:t>En este apartado se ha evaluado la longitud LPI en función del ancho . Como puede observarse en la gráfica, al duplicar el ancho la longitud aumenta aproximadamente cuatro veces, ya que dicha longitud teóricamente es directamente proporcional al cuadrado del ancho. En una guía estrecha, los modos están muy apretados y la diferencia entre sus velocidades es muy diferente, lo que provoca que interfieran en una distancia corta, mientras que en guías más anchas, los modos de orden bajo se vuelven más parecidos entre sí y por tanto sus índices efectivos se aproximan mucho y recorren una distancia mucho mayor para acumular el desfase necesario</a:t>
            </a:r>
            <a:endParaRPr lang="es-ES">
              <a:solidFill>
                <a:srgbClr val="000000"/>
              </a:solidFill>
              <a:ea typeface="+mn-lt"/>
              <a:cs typeface="+mn-lt"/>
            </a:endParaRPr>
          </a:p>
        </p:txBody>
      </p:sp>
      <p:sp>
        <p:nvSpPr>
          <p:cNvPr id="4" name="Marcador de pie de página 3">
            <a:extLst>
              <a:ext uri="{FF2B5EF4-FFF2-40B4-BE49-F238E27FC236}">
                <a16:creationId xmlns:a16="http://schemas.microsoft.com/office/drawing/2014/main" id="{3FA0FBA2-8FA5-F42B-080E-6E251E0B971E}"/>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2B86FDE6-ECDD-C675-52B2-03451B1A4345}"/>
              </a:ext>
            </a:extLst>
          </p:cNvPr>
          <p:cNvSpPr>
            <a:spLocks noGrp="1"/>
          </p:cNvSpPr>
          <p:nvPr>
            <p:ph type="sldNum" sz="quarter" idx="7"/>
          </p:nvPr>
        </p:nvSpPr>
        <p:spPr/>
        <p:txBody>
          <a:bodyPr/>
          <a:lstStyle/>
          <a:p>
            <a:fld id="{B6F15528-21DE-4FAA-801E-634DDDAF4B2B}" type="slidenum">
              <a:rPr lang="es-ES"/>
              <a:t>36</a:t>
            </a:fld>
            <a:endParaRPr lang="es-ES"/>
          </a:p>
        </p:txBody>
      </p:sp>
      <p:pic>
        <p:nvPicPr>
          <p:cNvPr id="8" name="Imagen 7">
            <a:extLst>
              <a:ext uri="{FF2B5EF4-FFF2-40B4-BE49-F238E27FC236}">
                <a16:creationId xmlns:a16="http://schemas.microsoft.com/office/drawing/2014/main" id="{0915E01E-B76F-7C81-34F0-EAE386FAD825}"/>
              </a:ext>
            </a:extLst>
          </p:cNvPr>
          <p:cNvPicPr>
            <a:picLocks noChangeAspect="1"/>
          </p:cNvPicPr>
          <p:nvPr/>
        </p:nvPicPr>
        <p:blipFill>
          <a:blip r:embed="rId2"/>
          <a:stretch>
            <a:fillRect/>
          </a:stretch>
        </p:blipFill>
        <p:spPr>
          <a:xfrm>
            <a:off x="3397880" y="2648557"/>
            <a:ext cx="5396240" cy="3808500"/>
          </a:xfrm>
          <a:prstGeom prst="rect">
            <a:avLst/>
          </a:prstGeom>
        </p:spPr>
      </p:pic>
    </p:spTree>
    <p:extLst>
      <p:ext uri="{BB962C8B-B14F-4D97-AF65-F5344CB8AC3E}">
        <p14:creationId xmlns:p14="http://schemas.microsoft.com/office/powerpoint/2010/main" val="22475095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a:solidFill>
                  <a:srgbClr val="FFFFFF"/>
                </a:solidFill>
                <a:latin typeface="Lucida Sans"/>
                <a:cs typeface="Lucida Sans"/>
              </a:rPr>
              <a:t>Thank</a:t>
            </a:r>
            <a:r>
              <a:rPr sz="3200" b="1" spc="-55">
                <a:solidFill>
                  <a:srgbClr val="FFFFFF"/>
                </a:solidFill>
                <a:latin typeface="Lucida Sans"/>
                <a:cs typeface="Lucida Sans"/>
              </a:rPr>
              <a:t> </a:t>
            </a:r>
            <a:r>
              <a:rPr sz="3200" b="1">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37</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3BF4603751B9444685CDB4ECC960774B" ma:contentTypeVersion="5" ma:contentTypeDescription="Crear nuevo documento." ma:contentTypeScope="" ma:versionID="a9efdd10dac46e736cd6d199655a3100">
  <xsd:schema xmlns:xsd="http://www.w3.org/2001/XMLSchema" xmlns:xs="http://www.w3.org/2001/XMLSchema" xmlns:p="http://schemas.microsoft.com/office/2006/metadata/properties" xmlns:ns3="5a0ea503-171e-44d1-a654-3e138e2b80c2" targetNamespace="http://schemas.microsoft.com/office/2006/metadata/properties" ma:root="true" ma:fieldsID="232e27a25a78b7021c88471bc8741fed" ns3:_="">
    <xsd:import namespace="5a0ea503-171e-44d1-a654-3e138e2b80c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a0ea503-171e-44d1-a654-3e138e2b80c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5a0ea503-171e-44d1-a654-3e138e2b80c2"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A744751-054F-4AA0-9EC2-6095E71FF254}">
  <ds:schemaRefs>
    <ds:schemaRef ds:uri="5a0ea503-171e-44d1-a654-3e138e2b80c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CB94F3F-3885-43CA-8083-4AD70D28EADE}">
  <ds:schemaRefs>
    <ds:schemaRef ds:uri="5a0ea503-171e-44d1-a654-3e138e2b80c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2A88514-8094-4784-BA7E-31F5ADE3B31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Panorámica</PresentationFormat>
  <Slides>37</Slides>
  <Notes>13</Notes>
  <HiddenSlides>0</HiddenSlides>
  <ScaleCrop>false</ScaleCrop>
  <HeadingPairs>
    <vt:vector size="4" baseType="variant">
      <vt:variant>
        <vt:lpstr>Tema</vt:lpstr>
      </vt:variant>
      <vt:variant>
        <vt:i4>1</vt:i4>
      </vt:variant>
      <vt:variant>
        <vt:lpstr>Títulos de diapositiva</vt:lpstr>
      </vt:variant>
      <vt:variant>
        <vt:i4>37</vt:i4>
      </vt:variant>
    </vt:vector>
  </HeadingPairs>
  <TitlesOfParts>
    <vt:vector size="38" baseType="lpstr">
      <vt:lpstr>Office Theme</vt:lpstr>
      <vt:lpstr>Presentación de PowerPoint</vt:lpstr>
      <vt:lpstr>Instructions General</vt:lpstr>
      <vt:lpstr>Presentación de PowerPoint</vt:lpstr>
      <vt:lpstr>Learning outcome #1 – Directional coupler cross-section in GDSFactory </vt:lpstr>
      <vt:lpstr>Resultados apartado 1 (n_eff, fraction_te, fraction_tm)</vt:lpstr>
      <vt:lpstr>Resultados apartado 1 (Plots)</vt:lpstr>
      <vt:lpstr>Resultados apartado 1 (𝐿𝜋)</vt:lpstr>
      <vt:lpstr>Learning outcome #2 – Directional coupler length and coupling coefficient Wavelength 1.5 µm – width 1.2 µm – gap 0.6 µm – thickness 300 nm</vt:lpstr>
      <vt:lpstr>Resultados apartado 2</vt:lpstr>
      <vt:lpstr>Learning outcome #3 – 2x2 Directional Coupler Wavelength 1.55 µm – Sweep gaps between 0.2 and 1.2 µm in steps of 0.2 µm</vt:lpstr>
      <vt:lpstr>Resultados apartado 3</vt:lpstr>
      <vt:lpstr>Resultados apartado 3</vt:lpstr>
      <vt:lpstr>Learning outcome #4 – Parallel uncoupled waveguides – TE0 mode Wavelength 1.55 µm, width 1.0 µm, gap to be found for uncoupled wvgs</vt:lpstr>
      <vt:lpstr>Resultados apartado 4</vt:lpstr>
      <vt:lpstr>Resultados apartado 4</vt:lpstr>
      <vt:lpstr>Presentación de PowerPoint</vt:lpstr>
      <vt:lpstr>Learning outcome #5 – Multimode Interference (MMI) Coupler cross-section</vt:lpstr>
      <vt:lpstr>Resultados apartado 5</vt:lpstr>
      <vt:lpstr>Resultados apartado 5</vt:lpstr>
      <vt:lpstr>Resultados apartado 5</vt:lpstr>
      <vt:lpstr>Learning outcome #6 – 6.1 2x2 Multimode Interference Coupler  Wavelength 1.55 µm, wMMI = 6.6 µm</vt:lpstr>
      <vt:lpstr>Resultados apartado 6</vt:lpstr>
      <vt:lpstr>Learning outcome #6.2 – 2x2 Multimode Interference Coupler - Optimization Wavelength 1.55 µm, wMMI = 6.6 µm</vt:lpstr>
      <vt:lpstr>Resultados apartado 6.2</vt:lpstr>
      <vt:lpstr>Learning outcome #6.3 – 2x2 Multimode Interference Coupler – Optimization (II) Wavelength 1.55 µm, wMMI = 6.6 µm</vt:lpstr>
      <vt:lpstr>Resultados apartado 6.3</vt:lpstr>
      <vt:lpstr>Learning outcome #7 – 1x4 Multimode Interference Coupler  Wavelength 1.55 µm, wMMI = ? µm</vt:lpstr>
      <vt:lpstr>Resultados apartado 7</vt:lpstr>
      <vt:lpstr>Extra #1 – Directional coupler gap dependence Wavelength 1.55 µm, width 1.0 µm, gap 0.2-2.4 µm (step 0.2 µm) </vt:lpstr>
      <vt:lpstr>Extra 1</vt:lpstr>
      <vt:lpstr>Extra #2 – Directional wavelength dependence Wavelengths from 1.5 to 1.7 µm, gap = 0.6 µm, width 1.0 µm  </vt:lpstr>
      <vt:lpstr>Extra 2</vt:lpstr>
      <vt:lpstr>Extra #3 – MMI coupler wavelength dependence Wavelengths from 1.5 to 1.7 µm, wMMI = 6.6 µm</vt:lpstr>
      <vt:lpstr>Extra 3</vt:lpstr>
      <vt:lpstr>Extra #4 – MMI coupler body width dependence Wavelength 1.55 µm, wMMI = 5-10 µm (steps 0.5 µm)</vt:lpstr>
      <vt:lpstr>Extra 4</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revision>3</cp:revision>
  <dcterms:created xsi:type="dcterms:W3CDTF">2025-01-27T02:46:57Z</dcterms:created>
  <dcterms:modified xsi:type="dcterms:W3CDTF">2026-05-03T23:09:30Z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y fmtid="{D5CDD505-2E9C-101B-9397-08002B2CF9AE}" pid="5" name="ContentTypeId">
    <vt:lpwstr>0x0101003BF4603751B9444685CDB4ECC960774B</vt:lpwstr>
  </property>
</Properties>
</file>